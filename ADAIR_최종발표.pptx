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대형 산불에서는 불만이 아니라 정보와 자원도 함께 폭증한다.</a:t>
            </a:r>
          </a:p>
          <a:p>
            <a:r>
              <a:t>[시간] 약 40초 (영상 25초 + 말 15초)</a:t>
            </a:r>
          </a:p>
          <a:p/>
          <a:p>
            <a:r>
              <a:t>(영상 재생 — 말하지 않음)</a:t>
            </a:r>
          </a:p>
          <a:p/>
          <a:p>
            <a:r>
              <a:t>2019년 4월, 강원도 인제 산불 영상입니다.</a:t>
            </a:r>
          </a:p>
          <a:p>
            <a:r>
              <a:t>대형 산불에서는 불만 빠르게 번지는 게 아닙니다. 현장에서 확인해야 할 정보, 그리고 움직여야 할 자원도 함께 급격히 늘어납니다.</a:t>
            </a:r>
          </a:p>
          <a:p/>
          <a:p>
            <a:r>
              <a:t>[연결] 그때 현장에서는 무엇이 가장 부족했을까요?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이 프로젝트는 실제 현장이 지적한 문제에서 출발했다.</a:t>
            </a:r>
          </a:p>
          <a:p>
            <a:r>
              <a:t>[시간] 약 55초</a:t>
            </a:r>
          </a:p>
          <a:p/>
          <a:p>
            <a:r>
              <a:t>저희는 2019년 강원 산불백서의 '강원 산불이 남긴 교훈'에서 출발했습니다.</a:t>
            </a:r>
          </a:p>
          <a:p>
            <a:r>
              <a:t>백서는 재난 발생 초기부터 현장 정보 수집이 부족했고, 정보를 모을 전담 인력도 없었다고 적고 있습니다.</a:t>
            </a:r>
          </a:p>
          <a:p>
            <a:r>
              <a:t>산불이 워낙 넓다 보니 상황실과 지휘관이 현장을 직접 확인할 수 없어서, 현장 대원의 무전 보고에 의지해 지휘했고, 그 결과 중복 지령과 혼선이 생겼습니다.</a:t>
            </a:r>
          </a:p>
          <a:p>
            <a:r>
              <a:t>여기에 전국에서 응원 자원이 한꺼번에 모이면서, 관할 통제단이 지휘할 수 있는 수준을 넘는 인력과 장비가 집결했습니다.</a:t>
            </a:r>
          </a:p>
          <a:p>
            <a:r>
              <a:t>백서는 이 밖에도 현장이 너무 넓어 방면별 지휘관 배치가 늦어졌고, 다른 지역에서 온 지원 인력이 그 지역 지리를 잘 몰랐으며, 전체 현장과 잔불 위치를 파악할 드론 같은 장비가 필요하다고 적고 있습니다.</a:t>
            </a:r>
          </a:p>
          <a:p>
            <a:r>
              <a:t>즉 부족했던 건 불을 끌 장비만이 아니라, 지금 현장이 어떤지 알려 주는 '정보'였습니다.</a:t>
            </a:r>
          </a:p>
          <a:p/>
          <a:p>
            <a:r>
              <a:t>[연결] 그럼 그 뒤로 소방은 어떻게 바뀌어 왔을까요?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문제는 그대로가 아니라, 장비는 늘었고 소방도 '통합'으로 가고 있다. ADAIR는 그 방향을 직접 해 봤다.</a:t>
            </a:r>
          </a:p>
          <a:p>
            <a:r>
              <a:t>[시간] 약 50초</a:t>
            </a:r>
          </a:p>
          <a:p/>
          <a:p>
            <a:r>
              <a:t>물론 2019년 이후 아무것도 바뀌지 않은 건 아닙니다.</a:t>
            </a:r>
          </a:p>
          <a:p>
            <a:r>
              <a:t>소방드론은 2024년 말 전국 676대, 그해에만 4,623번 재난 현장에 출동했습니다. 올해 초에는 무인소방로봇도 실제 화재 현장에 들어가 정보 수집과 방수를 했습니다.</a:t>
            </a:r>
          </a:p>
          <a:p>
            <a:r>
              <a:t>그리고 소방청은 올해 1월, 드론과 로봇이 모은 정보를 AI가 분석해 화재 확산 경로와 자원 배치안을 제시하는 'AI·디지털 기반 현장지휘체계'로 전환하겠다고 발표했습니다. 아직 추진 중인 방향입니다.</a:t>
            </a:r>
          </a:p>
          <a:p>
            <a:r>
              <a:t>장비는 늘었습니다. 그렇다면 이렇게 모은 정보를, 판단하고 배정하고 공유하는 데까지 하나로 이을 수 있을까요?</a:t>
            </a:r>
          </a:p>
          <a:p/>
          <a:p>
            <a:r>
              <a:t>[연결] 저희가 만든 ADAIR는 바로 이 질문을 시뮬레이션으로 직접 해 본 시스템입니다.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10초 안에 'ADAIR가 무엇인가'를 이해시킨다.</a:t>
            </a:r>
          </a:p>
          <a:p>
            <a:r>
              <a:t>[시간] 약 40초</a:t>
            </a:r>
          </a:p>
          <a:p/>
          <a:p>
            <a:r>
              <a:t>ADAIR는 세 층으로 되어 있습니다.</a:t>
            </a:r>
          </a:p>
          <a:p>
            <a:r>
              <a:t>맨 아래에서 드론, 즉 UAV와 지상 무인차량 UGV가 현장 정보를 모읍니다.</a:t>
            </a:r>
          </a:p>
          <a:p>
            <a:r>
              <a:t>가운데의 오케스트레이터가 그 정보를 바탕으로 무엇을 먼저 할지 판단하고, 어떤 자원을 보낼지 배정합니다.</a:t>
            </a:r>
          </a:p>
          <a:p>
            <a:r>
              <a:t>그리고 웹 관제판에서 여러 사용자가 같은 상황을 같은 화면으로 봅니다. 실제 지형과 도로 위에 불과 자원이 함께 표시되기 때문에, 그 지역을 잘 모르는 지원 인력도 같은 지도를 보며 상황을 맞춰 볼 수 있습니다.</a:t>
            </a:r>
          </a:p>
          <a:p>
            <a:r>
              <a:t>기존 지휘체계를 대체하자는 게 아니라, 반복적인 상황 확인과 정보 전달을 전화와 무전에만 의존하지 않도록 하자는 겁니다.</a:t>
            </a:r>
          </a:p>
          <a:p/>
          <a:p>
            <a:r>
              <a:t>[연결] 그런데 이 구조에서 중요한 건, 한 번 배치하고 끝나는 게 아니라는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ADAIR는 최적 배치를 한 번 계산하는 시스템이 아니라, 변화를 반영해 다시 판단하는 적응형 폐루프다.</a:t>
            </a:r>
          </a:p>
          <a:p>
            <a:r>
              <a:t>[시간] 약 60초</a:t>
            </a:r>
          </a:p>
          <a:p/>
          <a:p>
            <a:r>
              <a:t>ADAIR의 기본 동작은 이 고리입니다.</a:t>
            </a:r>
          </a:p>
          <a:p>
            <a:r>
              <a:t>드론과 차량이 관측하면, 그 결과로 환경 상태를 갱신합니다. 갱신된 상태로 위험과 확산을 다시 보고, 필요한 임무를 새로 만들거나 기존 임무를 다시 평가합니다.</a:t>
            </a:r>
          </a:p>
          <a:p>
            <a:r>
              <a:t>그다음 각 드론과 차량이 정말 갈 수 있는지 스스로 판단하고, Safety 검증을 통과해야 실행됩니다.</a:t>
            </a:r>
          </a:p>
          <a:p>
            <a:r>
              <a:t>그리고 실행한 결과가 다시 관측으로 돌아옵니다.</a:t>
            </a:r>
          </a:p>
          <a:p>
            <a:r>
              <a:t>예를 들어 바람이 바뀌어 불이 예상과 다른 방향으로 번지면, 그 관측 결과가 환경에 반영되고, 오케스트레이터는 그쪽을 다시 보는 임무를 새로 만들거나, 이미 내린 임무를 다시 평가합니다. 드론이 배터리 문제로 임무를 거절하면 다른 드론이 이어받습니다.</a:t>
            </a:r>
          </a:p>
          <a:p>
            <a:r>
              <a:t>산불은 계속 바뀌고 자원 상태도 계속 바뀌기 때문에, 한 번 최적 배치를 계산하고 끝나는 게 아니라 이 고리를 계속 다시 돕니다. 이 모든 단계는 관제판에서 같이 보입니다.</a:t>
            </a:r>
          </a:p>
          <a:p/>
          <a:p>
            <a:r>
              <a:t>[연결] 여기서 AI는 어디에 들어갈까요? 그리고 AI에게 이걸 다 맡겨도 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AI는 제안만 하고, 실행 권한은 검증을 통과한 시스템에 있다. (가장 중요한 기술 슬라이드)</a:t>
            </a:r>
          </a:p>
          <a:p>
            <a:r>
              <a:t>[시간] 약 90초</a:t>
            </a:r>
          </a:p>
          <a:p/>
          <a:p>
            <a:r>
              <a:t>AI에게 드론과 차량을 바로 맡겨도 될까요? 저희의 답은 '아니요'입니다.</a:t>
            </a:r>
          </a:p>
          <a:p>
            <a:r>
              <a:t>ADAIR에서 LLM이 하는 일은 두 가지입니다. 위험도가 비슷해서 규칙만으로는 순서를 정하기 어려운 임무들의 출동 순서를 제안하고, 불이 있을 것 같은 구역과 드론·차량별 관측 순서를 제안합니다.</a:t>
            </a:r>
          </a:p>
          <a:p>
            <a:r>
              <a:t>하지만 LLM은 장비에 직접 명령하지 않습니다.</a:t>
            </a:r>
          </a:p>
          <a:p>
            <a:r>
              <a:t>LLM이 낸 계획은 먼저 결정론적 검증을 거칩니다. 형식이 맞는지, 실제로 있는 임무와 자원과 구역만 썼는지, 지금 상태를 보고 만든 계획인지 확인합니다. 좌표나 위험 점수 같은 숫자는 아예 만들 수 없게 막아 두었습니다.</a:t>
            </a:r>
          </a:p>
          <a:p>
            <a:r>
              <a:t>통과하면 각 드론과 차량이 정말 수행할 수 있는지 스스로 판단하고, 마지막으로 Safety 검증까지 통과해야 실행됩니다.</a:t>
            </a:r>
          </a:p>
          <a:p>
            <a:r>
              <a:t>검증에 실패하거나 AI 호출이 실패하면, 멈추지 않고 규칙 기반 계획으로 대체합니다.</a:t>
            </a:r>
          </a:p>
          <a:p>
            <a:r>
              <a:t>그래서 왜 AI를 쓰느냐고 물으신다면, 규칙으로 정하기 애매한 판단을 돕기 위해서이고, AI가 틀리면 어떻게 하느냐고 물으신다면, 틀린 제안은 실행 전에 걸러진다고 답할 수 있습니다.</a:t>
            </a:r>
          </a:p>
          <a:p>
            <a:r>
              <a:t>AI는 제안하고, 시스템이 검증한 뒤 실행합니다.</a:t>
            </a:r>
          </a:p>
          <a:p/>
          <a:p>
            <a:r>
              <a:t>[연결] 이렇게 판단된 결과는 실제로 어떻게 보일까요?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산불, 바람, 드론·차량 상태, 임무 진행을 한 화면에서 공유한다.</a:t>
            </a:r>
          </a:p>
          <a:p>
            <a:r>
              <a:t>[시간] 약 45초</a:t>
            </a:r>
          </a:p>
          <a:p/>
          <a:p>
            <a:r>
              <a:t>실제 ADAIR 관제 화면입니다. 2019년 인제 산불을 재현한 시뮬레이션입니다.</a:t>
            </a:r>
          </a:p>
          <a:p>
            <a:r>
              <a:t>지도 위에 불이 탄 자리와 실제 위성으로 확인된 피해 범위가 겹쳐 보이고, 바람의 방향과 세기가 함께 표시됩니다.</a:t>
            </a:r>
          </a:p>
          <a:p>
            <a:r>
              <a:t>드론과 차량이 지금 어디에 있고 어떤 상태인지, 그리고 오른쪽에는 오케스트레이터가 내린 임무가 어디까지 진행됐는지가 보입니다.</a:t>
            </a:r>
          </a:p>
          <a:p>
            <a:r>
              <a:t>이 3D 화면 말고도, 2D 관제판에서는 지상 차량의 도착 예정 시간과 막힌 도로, 출동 상태를 표로 바로 볼 수 있습니다. 사용자 테스트에서도 출동 상태와 도착 예정 시간을 한 화면에서 보는 점이 편하다는 의견이 많았습니다.</a:t>
            </a:r>
          </a:p>
          <a:p>
            <a:r>
              <a:t>상황실에서도, 지휘관도, 다른 지역에서 온 지원 인력도 같은 화면을 보면서 같은 상황을 이해할 수 있게 하는 것이 목표입니다.</a:t>
            </a:r>
          </a:p>
          <a:p/>
          <a:p>
            <a:r>
              <a:t>[연결] 이 시스템은 다섯 명이 각자의 모듈을 맡아 하나로 연결했습니다.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다섯 명이 모듈을 나눠 맡고, API 계약과 통합 시험으로 하나의 폐루프로 연결했다.</a:t>
            </a:r>
          </a:p>
          <a:p>
            <a:r>
              <a:t>[시간] 약 35초</a:t>
            </a:r>
          </a:p>
          <a:p/>
          <a:p>
            <a:r>
              <a:t>김은주 님이 산불 확산과 기상, 지형을 다루는 환경 모듈을, 김동현 님이 드론 에이전트를, 박유홍 님이 지상 차량 에이전트를 맡았습니다.</a:t>
            </a:r>
          </a:p>
          <a:p>
            <a:r>
              <a:t>이원규 님이 전체 시스템 통합과 관제판, 로그를 맡았고, 저 박수진이 오케스트레이터와 Safety, 그리고 차량의 PX4 연동을 맡았습니다.</a:t>
            </a:r>
          </a:p>
          <a:p>
            <a:r>
              <a:t>각자 만든 모듈은 미리 정한 API 계약과 통합 시험으로 연결했고, GitHub에서 코드가 바뀔 때마다 통합 시험이 자동으로 돌도록 해서 서로의 변경이 전체 흐름을 깨지 않는지 확인했습니다.</a:t>
            </a:r>
          </a:p>
          <a:p/>
          <a:p>
            <a:r>
              <a:t>[연결] 그럼 이 시스템이 실제로 어떻게 돌아가는지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메시지] 관측 → 판단 → 배정 → 공유 → 재평가가 실제로 이어지는 모습을 보여 준다.</a:t>
            </a:r>
          </a:p>
          <a:p>
            <a:r>
              <a:t>[시간] 약 85초 (말 10초 + 영상 약 75초)</a:t>
            </a:r>
          </a:p>
          <a:p/>
          <a:p>
            <a:r>
              <a:t>마지막으로 시연입니다. 산불이 발생하면 드론이 출동해 관측하고, 그 결과로 환경이 갱신되고, 지상 차량이 투입되고, 임무가 끝나면 복귀하는 흐름을 보시겠습니다.</a:t>
            </a:r>
          </a:p>
          <a:p/>
          <a:p>
            <a:r>
              <a:t>(영상 재생 — 장면에 맞춰 짧게만 짚기: "지금 드론이 출동합니다", "관측 결과가 반영됐습니다", "지상 차량이 배정됐습니다", "임무를 마치고 복귀합니다")</a:t>
            </a:r>
          </a:p>
          <a:p/>
          <a:p>
            <a:r>
              <a:t>[마무리 → 다음 슬라이드로 넘기며] 이상으로 ADAIR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[용도] 시연 영상 뒤 "이상으로 발표를 마치겠습니다"라고 말할 때 화면에 남겨 두는 장. 따로 설명하지 않는다.</a:t>
            </a:r>
          </a:p>
          <a:p>
            <a:r>
              <a:t>질문이 들어오면 해당 백업 슬라이드(A~F)로 이동.</a:t>
            </a:r>
          </a:p>
          <a:p>
            <a:r>
              <a:t>주의: 배포 URL은 발표 당일 서버를 켠 뒤 다른 기기로 접속 확인. 안 되면 '외부 접속' 줄은 말로 언급하지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실제로 검증했나? → 어디서(팀 main CI / 개인 저장소 PX4·Gazebo), 어떤 조건(지정 경로·1회)인지 구분해서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규칙이면 되지 왜 AI? → 규칙으로 순서·관측 구역을 정하기 애매한 경우의 판단 보조. Q: AI가 틀리면? → 실행 전 검증·평가·Safety에서 걸러지고 규칙으로 대체.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사용자 테스트 했나? → 팀원 5명이 각자 2명씩, 서로 다른 10명. 개선 과제는 '계획' 상태라는 점을 분명히.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실제 현장 적용 가능? → 아니다. 지정 조건의 시뮬레이션 검증이며, 위 한계를 먼저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어디까지 실제인가? → 데이터는 실제(지형·도로·기상·피해지), 기체·차량 거동은 PX4·Gazebo 물리 시뮬레이션, 산불·열화상은 모델·모의.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소방청이 이미 하는 것 아닌가? → 맞다, 방향이 같다. ADAIR는 그 방향(정보수집→판단→배정→공유→재평가)을 산불 시나리오에서 직접 설계·구현해 본 것. 소방청 계획은 '추진 중'으로만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E"/>
          </a:solidFill>
          <a:ln w="19050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5400000">
            <a:off x="5775807" y="2743200"/>
            <a:ext cx="640080" cy="640080"/>
          </a:xfrm>
          <a:prstGeom prst="triangl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10972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7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ADAIR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40680"/>
            <a:ext cx="10058400" cy="5486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산불 현장 정보를 모으고, 판단하고, 함께 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206240"/>
            <a:ext cx="822960" cy="73152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457200"/>
            <a:ext cx="5120640" cy="3657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▶ 인제 산불 영상 (약 25초) — 영상 삽입 위치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2019년, 현장에서 부족했던 것은 ‘정보’였습니다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514600" cy="338328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2514600" cy="64008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057400" cy="6400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48840" cy="10972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초기 현장정보</a:t>
            </a:r>
          </a:p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214884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재난 발생 초기부터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11680"/>
            <a:ext cx="2514600" cy="338328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8" y="2011680"/>
            <a:ext cx="2514600" cy="64008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331720"/>
            <a:ext cx="2057400" cy="6400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200400"/>
            <a:ext cx="2148840" cy="10972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정보수집</a:t>
            </a:r>
          </a:p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전담인력 부재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4434840"/>
            <a:ext cx="214884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모을 사람이 없었다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011680"/>
            <a:ext cx="2514600" cy="338328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2011680"/>
            <a:ext cx="2514600" cy="64008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331720"/>
            <a:ext cx="2057400" cy="6400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200400"/>
            <a:ext cx="2148840" cy="10972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무전보고</a:t>
            </a:r>
          </a:p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의존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434840"/>
            <a:ext cx="214884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현장 확인 불가</a:t>
            </a:r>
          </a:p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 중복 지령 · 혼선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2011680"/>
            <a:ext cx="2514600" cy="338328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2011680"/>
            <a:ext cx="2514600" cy="64008"/>
          </a:xfrm>
          <a:prstGeom prst="rect">
            <a:avLst/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2331720"/>
            <a:ext cx="2057400" cy="6400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3200400"/>
            <a:ext cx="2148840" cy="10972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지휘 한계를</a:t>
            </a:r>
          </a:p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넘는 자원 집결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4434840"/>
            <a:ext cx="214884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전국 응원 자원</a:t>
            </a:r>
          </a:p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동시 집결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2019 강원 산불백서 「강원 산불이 남긴 교훈」 pp.205–207 (1-3, 4-4, 2-2)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그 후 — 장비는 늘었고, 방향은 ‘통합’입니다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148840" cy="73152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소방드론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148840" cy="10058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0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676대</a:t>
            </a:r>
          </a:p>
          <a:p>
            <a:pPr algn="l"/>
            <a:r>
              <a:rPr sz="20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출동 4,623건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214884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2024년 · 현장 정보 파악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3566160"/>
            <a:ext cx="256032" cy="0"/>
          </a:xfrm>
          <a:prstGeom prst="line">
            <a:avLst/>
          </a:prstGeom>
          <a:ln w="25400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47872" y="224028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2514600"/>
            <a:ext cx="2148840" cy="73152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무인소방로봇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108960"/>
            <a:ext cx="2148840" cy="10058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0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 투입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4297680"/>
            <a:ext cx="214884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2026년 · 정보 수집·방수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08192" y="3566160"/>
            <a:ext cx="256032" cy="0"/>
          </a:xfrm>
          <a:prstGeom prst="line">
            <a:avLst/>
          </a:prstGeom>
          <a:ln w="25400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9944" y="224028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514600"/>
            <a:ext cx="2148840" cy="73152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7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AI·디지털</a:t>
            </a:r>
          </a:p>
          <a:p>
            <a:pPr algn="l"/>
            <a:r>
              <a:rPr sz="17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현장지휘체계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3337560"/>
            <a:ext cx="2148840" cy="10058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드론·로봇 정보</a:t>
            </a:r>
          </a:p>
          <a:p>
            <a:pPr algn="l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→ AI 분석</a:t>
            </a:r>
          </a:p>
          <a:p>
            <a:pPr algn="l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→ 자원 배치안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4297680"/>
            <a:ext cx="214884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2026년 · 전환 추진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2016" y="2240280"/>
            <a:ext cx="2233879" cy="265176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2423160"/>
            <a:ext cx="1868119" cy="2286000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ctr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모은 정보를</a:t>
            </a:r>
          </a:p>
          <a:p>
            <a:pPr algn="ctr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판단 · 배정 · 공유</a:t>
            </a:r>
          </a:p>
          <a:p>
            <a:pPr algn="ctr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까지 하나로</a:t>
            </a:r>
          </a:p>
          <a:p>
            <a:pPr algn="ctr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이을 수 있을까?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소방청 보도자료 2025.2.26(소방드론) · 2026.2.25(무인소방로봇) · 2026.1.16(AI 기반 미래 소방체계)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ADAIR — 정보를 모으고, 판단하고, 함께 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874519"/>
            <a:ext cx="5943600" cy="100584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2222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874519"/>
            <a:ext cx="3017520" cy="1005840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2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UAV · UGV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74519"/>
            <a:ext cx="2743200" cy="1005840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20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현장 정보 수집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916936"/>
            <a:ext cx="0" cy="384048"/>
          </a:xfrm>
          <a:prstGeom prst="line">
            <a:avLst/>
          </a:prstGeom>
          <a:ln w="2857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08960" y="3337560"/>
            <a:ext cx="5943600" cy="100584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2222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337560"/>
            <a:ext cx="3017520" cy="1005840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2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337560"/>
            <a:ext cx="2743200" cy="1005840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판단 · 자원 배정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4379976"/>
            <a:ext cx="0" cy="384048"/>
          </a:xfrm>
          <a:prstGeom prst="line">
            <a:avLst/>
          </a:prstGeom>
          <a:ln w="2857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8960" y="4800600"/>
            <a:ext cx="5943600" cy="100584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2222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800600"/>
            <a:ext cx="3017520" cy="1005840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2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Web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800600"/>
            <a:ext cx="2743200" cy="1005840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20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공통 상황 공유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ctr"/>
            <a:r>
              <a:rPr sz="20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정보수집 자동화  +  판단 통합  +  공통 관제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배치하고 끝이 아닙니다 — 다시 보고, 다시 판단합니다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26180" y="1956815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UAV · UGV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402" y="284835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환경 갱신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402" y="463143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위험 · Task 재평가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26180" y="552297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수행 가능성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Local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957" y="463143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Safety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957" y="284835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자원 배정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44402" y="2469930"/>
            <a:ext cx="632177" cy="615119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66102" y="3680460"/>
            <a:ext cx="0" cy="86868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844402" y="5144550"/>
            <a:ext cx="632177" cy="615119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033180" y="5144550"/>
            <a:ext cx="632177" cy="615119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43657" y="3680460"/>
            <a:ext cx="0" cy="86868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33180" y="2469930"/>
            <a:ext cx="632177" cy="615119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03320" y="3730752"/>
            <a:ext cx="2103120" cy="768096"/>
          </a:xfrm>
          <a:prstGeom prst="roundRect">
            <a:avLst>
              <a:gd name="adj" fmla="val 12000"/>
            </a:avLst>
          </a:prstGeom>
          <a:solidFill>
            <a:srgbClr val="1E2F4A"/>
          </a:solidFill>
          <a:ln w="19050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Orchestrator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514600"/>
            <a:ext cx="2240280" cy="292608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Web</a:t>
            </a:r>
          </a:p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Dashboard</a:t>
            </a:r>
          </a:p>
          <a:p>
            <a:pPr algn="ctr"/>
            <a:r>
              <a:rPr sz="8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모든 단계를</a:t>
            </a:r>
          </a:p>
          <a:p>
            <a:pPr algn="ctr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같은 화면에 공유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52460" y="4114800"/>
            <a:ext cx="982980" cy="0"/>
          </a:xfrm>
          <a:prstGeom prst="line">
            <a:avLst/>
          </a:prstGeom>
          <a:ln w="19050">
            <a:solidFill>
              <a:srgbClr val="5E6E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AI에게 드론과 차량을 바로 맡겨도 될까?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55448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E2F4A"/>
          </a:solidFill>
          <a:ln w="2222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54679" y="1554480"/>
            <a:ext cx="201168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554480"/>
            <a:ext cx="219456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계획 제안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79" y="2194560"/>
            <a:ext cx="0" cy="118872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233172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79" y="2331720"/>
            <a:ext cx="201168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결정론적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331720"/>
            <a:ext cx="219456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형식 · 실제 ID · 입력 상태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79" y="2971800"/>
            <a:ext cx="0" cy="118872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310896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3108960"/>
            <a:ext cx="201168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Local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08960"/>
            <a:ext cx="219456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수행 가능 여부 판단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79" y="3749039"/>
            <a:ext cx="0" cy="118873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80360" y="388620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3886200"/>
            <a:ext cx="201168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886200"/>
            <a:ext cx="219456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실행 전 안전 검증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479" y="4526279"/>
            <a:ext cx="0" cy="118873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80360" y="466344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79" y="4663440"/>
            <a:ext cx="201168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663440"/>
            <a:ext cx="2194560" cy="62179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자원 예약 · 명령 1회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00200"/>
            <a:ext cx="2011680" cy="566928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15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AI의 역할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331720"/>
            <a:ext cx="2011680" cy="2176272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r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시스템의 역할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2139696"/>
            <a:ext cx="3520440" cy="100584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검증 실패 · 호출 실패</a:t>
            </a:r>
          </a:p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 규칙 기반 계획으로 대체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0" y="2642615"/>
            <a:ext cx="822959" cy="0"/>
          </a:xfrm>
          <a:prstGeom prst="line">
            <a:avLst/>
          </a:prstGeom>
          <a:ln w="19050">
            <a:solidFill>
              <a:srgbClr val="5E6E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ctr"/>
            <a:r>
              <a:rPr sz="2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AI는 제안하고, 시스템이 검증한 뒤 실행합니다.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현장정보와 대응자원을 하나의 화면에서</a:t>
            </a:r>
          </a:p>
        </p:txBody>
      </p:sp>
      <p:pic>
        <p:nvPicPr>
          <p:cNvPr id="4" name="Picture 3" descr="6-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07" y="1097280"/>
            <a:ext cx="8869680" cy="508472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007711" y="3557015"/>
            <a:ext cx="402336" cy="402336"/>
          </a:xfrm>
          <a:prstGeom prst="ellipse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00" b="1">
                <a:solidFill>
                  <a:srgbClr val="0E182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790291" y="2980486"/>
            <a:ext cx="402336" cy="402336"/>
          </a:xfrm>
          <a:prstGeom prst="ellipse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00" b="1">
                <a:solidFill>
                  <a:srgbClr val="0E182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890357" y="2492654"/>
            <a:ext cx="402336" cy="402336"/>
          </a:xfrm>
          <a:prstGeom prst="ellipse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00" b="1">
                <a:solidFill>
                  <a:srgbClr val="0E182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9442551" y="3601364"/>
            <a:ext cx="402336" cy="402336"/>
          </a:xfrm>
          <a:prstGeom prst="ellipse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00" b="1">
                <a:solidFill>
                  <a:srgbClr val="0E1829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007" y="6273448"/>
            <a:ext cx="8869680" cy="3657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1 산불 · 피해 범위  2 바람  3 UAV · UGV 상태  4 총괄 임무 진행     · 2019 인제 산불 재현 시뮬레이션 화면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다섯 명이 하나의 폐루프를 나눠 만들었습니다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9080" y="16459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Web Dashboard · 시스템 통합 · 로그</a:t>
            </a:r>
          </a:p>
          <a:p>
            <a:pPr algn="ctr"/>
            <a:r>
              <a:rPr sz="1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이원규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3063240"/>
            <a:ext cx="4023360" cy="10515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Orchestrator · Safety</a:t>
            </a:r>
          </a:p>
          <a:p>
            <a:pPr algn="ctr"/>
            <a:r>
              <a:rPr sz="1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박수진  (+ UGV PX4 연동)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63240"/>
            <a:ext cx="2743200" cy="10515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Environment</a:t>
            </a:r>
          </a:p>
          <a:p>
            <a:pPr algn="ctr"/>
            <a:r>
              <a:rPr sz="1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김은주  산불 · 기상 · 지형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4709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UAV Agent</a:t>
            </a:r>
          </a:p>
          <a:p>
            <a:pPr algn="ctr"/>
            <a:r>
              <a:rPr sz="1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김동현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709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UGV Agent</a:t>
            </a:r>
          </a:p>
          <a:p>
            <a:pPr algn="ctr"/>
            <a:r>
              <a:rPr sz="1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박유홍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3584448"/>
            <a:ext cx="548640" cy="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80760" y="2606040"/>
            <a:ext cx="0" cy="41148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480560" y="4160520"/>
            <a:ext cx="640080" cy="50292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4160520"/>
            <a:ext cx="640080" cy="50292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3063240"/>
            <a:ext cx="2377440" cy="105156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API 계약 · 통합 시험</a:t>
            </a:r>
          </a:p>
          <a:p>
            <a:pPr algn="ctr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으로 모듈 연결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7320" y="5029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4951" y="786384"/>
            <a:ext cx="265177" cy="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37560" y="5029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65192" y="786384"/>
            <a:ext cx="265176" cy="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57800" y="5029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85432" y="786384"/>
            <a:ext cx="265175" cy="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78040" y="5029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공유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05672" y="786384"/>
            <a:ext cx="265176" cy="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98280" y="5029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재평가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371600"/>
            <a:ext cx="10820095" cy="4800600"/>
          </a:xfrm>
          <a:prstGeom prst="rect">
            <a:avLst/>
          </a:prstGeom>
          <a:solidFill>
            <a:srgbClr val="0A111E"/>
          </a:solidFill>
          <a:ln w="19050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5775807" y="3086100"/>
            <a:ext cx="640080" cy="640080"/>
          </a:xfrm>
          <a:prstGeom prst="triangl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63339"/>
            <a:ext cx="10820095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ADAIR 최종 시연 영상 (약 75초)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74820"/>
            <a:ext cx="10820095" cy="3657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ct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영상 삽입 위치 — 클릭 재생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결과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21208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0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System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5257800" cy="36576"/>
          </a:xfrm>
          <a:prstGeom prst="rect">
            <a:avLst/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GitHub Actions 통합 시험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팀 main 전 단계 통과 · 2026.10.14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PX4 · Gazebo 20분 통합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1회 통과 · UGV 도로 이탈 0 · UAV 최소 지형 여유 85.2 m 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LLM 실호출 (Gazebo 통합)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15968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1회 · 35.2초 · 검증 위반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46320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UGV 실제 지형 주행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30368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2.4 km 통과 · 보정 지형 월드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521208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Project Completion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74519"/>
            <a:ext cx="5257800" cy="36576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사용자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87168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10명 · 현장 시연 피드백 (2026.10.6)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외부 접속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01568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http://3.37.210.229:8080 · 발표 당일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15968"/>
            <a:ext cx="5257800" cy="41148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소스 · 문서 · 시험 이력  github.com/Xn0w/Codyssey_M2-1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* 물리 시뮬레이션(PX4·Gazebo) 결과는 개인 작업 저장소(github.com/sujinpark50-gif/ADAIR) 기준 · 지정 시험 조건에서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A. 시험 · 검증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54480"/>
            <a:ext cx="107899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6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무엇을, 어디서, 어떤 조건으로 확인했는가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자동 통합 시험 (CI)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94560"/>
            <a:ext cx="237744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팀 main · GitHub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94560"/>
            <a:ext cx="539496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IT-01·02 · INT-01~05 · 총괄 · 환경 시험 전 단계 통과 (10.14)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80944"/>
            <a:ext cx="274320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로컬 단위 시험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80944"/>
            <a:ext cx="237744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개인 저장소 · 10.14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980944"/>
            <a:ext cx="539496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총괄 434 passed (8 skipped: 실서버 필요) · UGV 161 passed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67328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274320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PX4 · Gazebo 통합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67328"/>
            <a:ext cx="237744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개인 저장소 · 10.11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67328"/>
            <a:ext cx="539496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UAV 1 + UGV 1, 1,082초, 수동 개입 0, UGV 이탈 0, 지형 여유 85.2 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53712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53712"/>
            <a:ext cx="274320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LLM 실호출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553712"/>
            <a:ext cx="237744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개인 저장소 · 10.11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553712"/>
            <a:ext cx="539496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관측 계획 1회 OK · 35.2초 · 위반 0 · 대체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0096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0096"/>
            <a:ext cx="274320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UGV 실제 지형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340096"/>
            <a:ext cx="237744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개인 저장소 · 10.14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340096"/>
            <a:ext cx="5394960" cy="676656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2.4 km · 타일 이음매 통과 · 도착 오차 0.17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근거: docs/intergration/04(개인 저장소), ADAIR 시험 결과 공유(2026-10-11), GitHub Actions 실행 기록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B. LLM 적용 구조와 대체 동작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8463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8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무엇을 제안하나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846320" cy="9144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출동 순서 추천 — 위험도가 비슷한 임무 묶음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관측 계획 — 예상 화재 구역 · 자원별 관측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8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무엇을 못 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좌표 · 고도 · 위험 점수 생성 (출력 칸 없음)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장비 직접 명령 · Safety 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49039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8463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8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어떻게 검증하나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59"/>
            <a:ext cx="4846320" cy="9144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형식 · 자료형 · 입력 상태(state_version · hash)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입력에 있는 임무 · 자원 · 구역 ID만 · 중복 · 누락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31920"/>
            <a:ext cx="48463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8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실패하면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59"/>
            <a:ext cx="4846320" cy="9144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오류 목록으로 1회 재요청 → 그래도 실패 시 규칙 계획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60초 초과 · 호출 50회 초과 · 키 없음 → 규칙 계획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모델 gpt-5.5 (OpenAI 호환 API) · 대표 정상 통합 시연에서는 LLM 관측 계획을 끔 — 계획 지점까지의 UGV 경로가 사전 검증 경로가 아니므로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C. 사용자 10명 피드백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54480"/>
            <a:ext cx="107899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6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현장 시연 · 2026.10.6 · 정성 평가 (제품 성능 · 사업성 입증 자료 아님)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512064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좋았던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5120640" cy="2743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실제 지형 기반 지도와 산불 확산 표현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화재와 대응 자원을 한 화면에서 확인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출동 상태 · 도착 예정 시간(ETA)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개선 요청 → 우선순위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303520" cy="32004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1  현재 상황 · 임무 목적 요약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2  격자 번호 대신 실제 지명 병기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3  신고 → 출동 → 도착 → 복귀 타임라인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4  지도 클릭으로 위치 선택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5  풍향 화살표 · 드론 이동 목적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근거: docs/common/ADAIR_사용자_피드백.md (참여자 식별정보 미기록) · 개선 항목은 계획 단계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D. 한계와 아직 검증하지 않은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3774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관측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1381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열화상은 실제 센서가 아닌 모의 데이터(SIMULATED)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33472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3774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UGV 주행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33472"/>
            <a:ext cx="81381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일부 교차로 · 지형 타일 경계 정지 조건 미해결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38144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38144"/>
            <a:ext cx="23774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검증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438144"/>
            <a:ext cx="81381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60 km/h · 장거리 경로 미완료 · 통합은 지정 경로 1회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42816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6"/>
            <a:ext cx="23774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총괄 안정성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242816"/>
            <a:ext cx="81381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통합 실행 6회 중 1회 배정 멈춤 (원인 미확인)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47488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23774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적용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047488"/>
            <a:ext cx="81381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실제 재난 현장 운용 시스템이 아닌 시뮬레이션 프로젝트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E. 무엇이 실제이고, 무엇이 시뮬레이션인가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74720" cy="31089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0175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실제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017520" cy="21945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인제 DEM 지형 · 도로망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2019 기상(기상청 ASOS)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위성 실제 피해지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74720" cy="31089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30175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물리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06040"/>
            <a:ext cx="3017520" cy="21945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PX4 SITL + Gazebo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UAV x500 · UGV 차량 모델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실제 지형 타일 월드 (개인 저장소)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83080"/>
            <a:ext cx="3474720" cy="31089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65960"/>
            <a:ext cx="301752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9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모의 · 단순화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06040"/>
            <a:ext cx="3017520" cy="21945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CA 산불 확산 모델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열화상 관측 (SIMULATED)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팀 시연: UAV mock · UGV 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10835640" cy="45720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ctr"/>
            <a:r>
              <a:rPr sz="15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Python · FastAPI · SQLite · PX4 · Gazebo · OpenAI 호환 LLM(gpt-5.5) · GitHub Actions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F. 국내 소방 기술 현황 (공개 보도자료 기준)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7373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2025.2.26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28800"/>
            <a:ext cx="87782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소방드론 676대(2024년 말) · 2024년 출동 4,623건 · 재난현장 정보 파악·수색구조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33472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7373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2026.1.16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33472"/>
            <a:ext cx="87782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드론·로봇 정보를 AI가 분석해 화재 확산 경로·자원 배치안을 제시하는 현장지휘체계로 전환 추진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38144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38144"/>
            <a:ext cx="17373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2026.1.16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38144"/>
            <a:ext cx="87782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소방헬기·드론 위치와 기상을 3D 지도로 시각화하는 소방항공 통합관제 플랫폼 고도화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42816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6"/>
            <a:ext cx="17373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2026.2.25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242816"/>
            <a:ext cx="87782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무인소방로봇 4대 기증 · 2대 실전 투입 · 1.30 충북 음성 공장 화재 첫 투입 (지하·물류창고 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47488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173736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2026.3.18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047488"/>
            <a:ext cx="8778240" cy="694944"/>
          </a:xfrm>
          <a:prstGeom prst="rect">
            <a:avLst/>
          </a:prstGeom>
          <a:noFill/>
        </p:spPr>
        <p:txBody>
          <a:bodyPr wrap="square" anchor="ctr" lIns="109728" rIns="109728" tIns="36576" bIns="36576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차세대 119 통합체계 정보화전략계획(ISMP) 수립 착수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anchor="t" lIns="109728" rIns="109728" tIns="36576" bIns="36576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출처: 소방청 보도자료 (nfa.go.kr) · ADAIR는 이 방향을 산불 시나리오에서 폐루프로 시뮬레이션한 프로젝트이며 기존 체계를 대체하지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