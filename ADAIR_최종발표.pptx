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1" r:id="rId13"/>
    <p:sldId id="275" r:id="rId14"/>
    <p:sldId id="276" r:id="rId15"/>
    <p:sldId id="273" r:id="rId16"/>
    <p:sldId id="266" r:id="rId17"/>
    <p:sldId id="267" r:id="rId18"/>
    <p:sldId id="268" r:id="rId19"/>
    <p:sldId id="272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819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대형 산불에서는 불만이 아니라 정보와 자원도 함께 폭증한다.</a:t>
            </a:r>
          </a:p>
          <a:p>
            <a:r>
              <a:t>[시간] 약 40초 (영상 25초 + 말 15초)</a:t>
            </a:r>
          </a:p>
          <a:p>
            <a:endParaRPr/>
          </a:p>
          <a:p>
            <a:r>
              <a:t>(영상 재생 — 말하지 않음)</a:t>
            </a:r>
          </a:p>
          <a:p>
            <a:endParaRPr/>
          </a:p>
          <a:p>
            <a:r>
              <a:t>2019년 4월, 강원도 인제 산불 영상입니다.</a:t>
            </a:r>
          </a:p>
          <a:p>
            <a:r>
              <a:t>대형 산불에서는 불만 커지는 게 아닙니다. 현장에서 확인해야 할 정보, 그리고 움직여야 할 자원도 함께 급격히 늘어납니다.</a:t>
            </a:r>
          </a:p>
          <a:p>
            <a:endParaRPr/>
          </a:p>
          <a:p>
            <a:r>
              <a:t>[연결] 그때 현장에서는 무엇이 가장 부족했을까요?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이 프로젝트는 실제 현장이 지적한 문제에서 출발했다.</a:t>
            </a:r>
          </a:p>
          <a:p>
            <a:r>
              <a:t>[시간] 약 55초</a:t>
            </a:r>
          </a:p>
          <a:p>
            <a:endParaRPr/>
          </a:p>
          <a:p>
            <a:r>
              <a:t>2019년 4월 강원 산불은 3일 동안 5개 시·군에서 산림 2,871.7헥타르를 태웠고, 연인원 39,193명, 장비 2,374대가 동원됐습니다. 그중 1,245대는 다른 시·도 소방본부와 중앙구조본부에서 온 장비였습니다.</a:t>
            </a:r>
          </a:p>
          <a:p>
            <a:r>
              <a:t>저희는 2019년 강원 산불백서의 '강원 산불이 남긴 교훈'에서 출발했습니다.</a:t>
            </a:r>
          </a:p>
          <a:p>
            <a:r>
              <a:t>백서는 재난 발생 초기부터 현장 정보 수집이 부족했고, 정보를 모을 전담 인력도 없었다고 적고 있습니다.</a:t>
            </a:r>
          </a:p>
          <a:p>
            <a:r>
              <a:t>산불이 워낙 넓다 보니 상황실과 지휘관이 현장을 직접 확인할 수 없어서, 현장 대원의 무전 보고에 의지해 지휘했고, 그 결과 중복 지령과 혼선이 생겼습니다.</a:t>
            </a:r>
          </a:p>
          <a:p>
            <a:r>
              <a:t>여기에 전국에서 응원 자원이 한꺼번에 모이면서, 관할 통제단이 지휘할 수 있는 수준을 넘는 인력과 장비가 집결했습니다.</a:t>
            </a:r>
          </a:p>
          <a:p>
            <a:r>
              <a:t>백서는 이 밖에도 현장이 너무 넓어 방면별 지휘관 배치가 늦어졌고, 다른 지역에서 온 지원 인력이 그 지역 지리를 잘 몰랐으며, 전체 현장과 잔불 위치를 파악할 드론 같은 장비가 필요하다고 적고 있습니다.</a:t>
            </a:r>
          </a:p>
          <a:p>
            <a:r>
              <a:t>즉 부족했던 건 불을 끌 장비만이 아니라, 지금 현장이 어떤지 알려 주는 '정보'였습니다.</a:t>
            </a:r>
          </a:p>
          <a:p>
            <a:endParaRPr/>
          </a:p>
          <a:p>
            <a:r>
              <a:t>[연결] 그럼 그 뒤로 소방은 어떻게 바뀌어 왔을까요?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문제는 그대로가 아니라, 장비는 늘었고 소방도 '통합'으로 가고 있다. ADAIR는 그 방향을 직접 해 봤다.</a:t>
            </a:r>
          </a:p>
          <a:p>
            <a:r>
              <a:t>[시간] 약 50초</a:t>
            </a:r>
          </a:p>
          <a:p>
            <a:endParaRPr/>
          </a:p>
          <a:p>
            <a:r>
              <a:t>물론 2019년 이후 아무것도 바뀌지 않은 건 아닙니다.</a:t>
            </a:r>
          </a:p>
          <a:p>
            <a:r>
              <a:t>소방드론은 2024년 말 전국 676대, 그해에만 4,623건 재난 현장에 출동했습니다. 올해 초에는 무인소방로봇도 실제 화재 현장에 들어가 정보 수집과 방수를 했습니다.</a:t>
            </a:r>
          </a:p>
          <a:p>
            <a:r>
              <a:t>그리고 소방청은 올해 1월, 드론과 로봇이 모은 정보를 AI가 분석해 화재 확산 경로와 자원 배치안을 제시하는 'AI·디지털 기반 현장지휘체계'로 전환하겠다고 발표했습니다. 아직 추진 중인 방향입니다.</a:t>
            </a:r>
          </a:p>
          <a:p>
            <a:r>
              <a:t>소방항공 통합관제 플랫폼 고도화와 차세대 119 통합체계 ISMP 착수도 진행 중입니다.</a:t>
            </a:r>
          </a:p>
          <a:p>
            <a:r>
              <a:t>현장은 이미 무인 정보수집과 통합관제로 움직이고 있습니다. 그렇다면 이렇게 모은 정보를, 판단하고 배정하고 공유하는 데까지 하나로 이을 수 있을까요?</a:t>
            </a:r>
          </a:p>
          <a:p>
            <a:endParaRPr/>
          </a:p>
          <a:p>
            <a:r>
              <a:t>[연결] 저희가 만든 ADAIR는 바로 이 질문을 시뮬레이션으로 직접 해 본 시스템입니다.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10초 안에 'ADAIR가 무엇인가'를 이해시킨다.</a:t>
            </a:r>
          </a:p>
          <a:p>
            <a:r>
              <a:t>[시간] 약 40초</a:t>
            </a:r>
          </a:p>
          <a:p>
            <a:endParaRPr/>
          </a:p>
          <a:p>
            <a:r>
              <a:t>ADAIR는 세 층으로 되어 있습니다.</a:t>
            </a:r>
          </a:p>
          <a:p>
            <a:r>
              <a:t>맨 아래에서 드론, 즉 UAV와 지상 무인차량 UGV가 현장 정보를 모읍니다.</a:t>
            </a:r>
          </a:p>
          <a:p>
            <a:r>
              <a:t>가운데의 오케스트레이터가 그 정보를 바탕으로 무엇을 먼저 할지 판단하고, 어떤 자원을 보낼지 배정합니다.</a:t>
            </a:r>
          </a:p>
          <a:p>
            <a:r>
              <a:t>그리고 웹 관제판에서 여러 사용자가 같은 상황을 같은 화면으로 봅니다. 실제 지형과 도로 위에 불과 자원이 함께 표시되기 때문에, 그 지역을 잘 모르는 지원 인력도 같은 지도를 보며 상황을 맞춰 볼 수 있도록 설계했습니다.</a:t>
            </a:r>
          </a:p>
          <a:p>
            <a:r>
              <a:t>기존 지휘체계를 대체하자는 게 아니라, 반복적인 상황 확인과 정보 전달을 전화와 무전에만 의존하지 않도록 하자는 겁니다.</a:t>
            </a:r>
          </a:p>
          <a:p>
            <a:endParaRPr/>
          </a:p>
          <a:p>
            <a:r>
              <a:t>[연결] 그런데 이 구조에서 중요한 건, 한 번 배치하고 끝나는 게 아니라는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ADAIR는 최적 배치를 한 번 계산하는 시스템이 아니라, 변화를 반영해 다시 판단하는 적응형 폐루프다.</a:t>
            </a:r>
          </a:p>
          <a:p>
            <a:r>
              <a:t>[시간] 약 60초</a:t>
            </a:r>
          </a:p>
          <a:p>
            <a:endParaRPr/>
          </a:p>
          <a:p>
            <a:r>
              <a:t>ADAIR의 기본 동작은 이 고리입니다.</a:t>
            </a:r>
          </a:p>
          <a:p>
            <a:r>
              <a:t>드론과 차량이 관측하면, 그 결과로 환경 상태를 갱신합니다. 갱신된 상태로 위험과 확산을 다시 보고, 필요한 임무를 새로 만들거나 기존 임무를 다시 평가합니다.</a:t>
            </a:r>
          </a:p>
          <a:p>
            <a:r>
              <a:t>그다음 각 드론과 차량이 정말 갈 수 있는지 스스로 판단하고, Safety 검증을 통과해야 실행됩니다.</a:t>
            </a:r>
          </a:p>
          <a:p>
            <a:r>
              <a:t>그리고 실행한 결과가 다시 관측으로 돌아옵니다.</a:t>
            </a:r>
          </a:p>
          <a:p>
            <a:r>
              <a:t>설계상으로는, 예를 들어 바람이 바뀌어 불이 예상과 다른 방향으로 번지면, 그 관측 결과가 환경에 반영되고, 오케스트레이터는 그쪽을 다시 보는 임무를 새로 만들거나, 이미 내린 임무를 다시 평가합니다. 드론을 쓸 수 없으면 지상 차량이 대신 관측을 맡습니다.</a:t>
            </a:r>
          </a:p>
          <a:p>
            <a:r>
              <a:t>산불은 계속 바뀌고 자원 상태도 계속 바뀌기 때문에, 한 번 최적 배치를 계산하고 끝나는 게 아니라 이 고리를 계속 다시 돕니다. 관측·판단·배정 상태는 관제판에서 같이 보입니다. 다만 여러 시간 단계에 걸친 확산 추적 성능은 다음 단계에서 측정합니다.</a:t>
            </a:r>
          </a:p>
          <a:p>
            <a:endParaRPr/>
          </a:p>
          <a:p>
            <a:r>
              <a:t>[연결] 여기서 AI는 어디에 들어갈까요? 그리고 AI에게 이걸 다 맡겨도 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AI는 제안만 하고, 실행 권한은 검증을 통과한 시스템에 있다. (가장 중요한 기술 슬라이드)</a:t>
            </a:r>
          </a:p>
          <a:p>
            <a:r>
              <a:t>[시간] 약 90초</a:t>
            </a:r>
          </a:p>
          <a:p>
            <a:endParaRPr/>
          </a:p>
          <a:p>
            <a:r>
              <a:t>AI에게 드론과 차량을 바로 맡겨도 될까요? 저희의 답은 '아니요'입니다.</a:t>
            </a:r>
          </a:p>
          <a:p>
            <a:r>
              <a:t>ADAIR에서 LLM이 하는 일은 두 가지입니다. 위험도가 비슷해서 규칙만으로는 순서를 정하기 어려운 임무들의 출동 순서를 제안하고, 불이 있을 것 같은 구역과 드론·차량별 관측 순서를 제안합니다.</a:t>
            </a:r>
          </a:p>
          <a:p>
            <a:r>
              <a:t>하지만 LLM은 장비에 직접 명령하지 않습니다.</a:t>
            </a:r>
          </a:p>
          <a:p>
            <a:r>
              <a:t>LLM이 낸 계획은 먼저 결정론적 검증을 거칩니다. 형식이 맞는지, 실제로 있는 임무와 자원과 구역만 썼는지, 지금 상태를 보고 만든 계획인지 확인합니다. 좌표나 위험 점수 같은 숫자는 아예 만들 수 없게 막아 두었습니다.</a:t>
            </a:r>
          </a:p>
          <a:p>
            <a:r>
              <a:t>통과하면 각 드론과 차량이 정말 수행할 수 있는지 스스로 판단하고, 마지막으로 Safety 검증까지 통과해야 실행됩니다.</a:t>
            </a:r>
          </a:p>
          <a:p>
            <a:r>
              <a:t>검증에 실패하면 오류 목록과 함께 한 번 다시 요청하고, 그래도 실패하거나 AI 호출 자체가 실패하면 멈추지 않고 규칙 기반 계획으로 대체합니다.</a:t>
            </a:r>
          </a:p>
          <a:p>
            <a:r>
              <a:t>그래서 왜 AI를 쓰느냐고 물으신다면, 규칙으로 정하기 애매한 판단을 돕기 위해서이고, AI가 틀리면 어떻게 하느냐고 물으신다면, 형식·ID·상태가 틀린 제안은 걸러지고, 실행은 Local Agent와 Safety를 통과해야만 된다고 답할 수 있습니다.</a:t>
            </a:r>
          </a:p>
          <a:p>
            <a:r>
              <a:t>AI는 제안하고, 시스템이 검증한 뒤 실행합니다.</a:t>
            </a:r>
          </a:p>
          <a:p>
            <a:endParaRPr/>
          </a:p>
          <a:p>
            <a:r>
              <a:t>[연결] 이렇게 판단된 결과는 실제로 어떻게 보일까요?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산불, 바람, 드론·차량 상태, 임무 진행을 한 화면에서 공유한다.</a:t>
            </a:r>
          </a:p>
          <a:p>
            <a:r>
              <a:t>[시간] 약 45초</a:t>
            </a:r>
          </a:p>
          <a:p>
            <a:endParaRPr/>
          </a:p>
          <a:p>
            <a:r>
              <a:t>실제 ADAIR 관제 화면입니다. 2019년 인제 산불을 재현한 시뮬레이션입니다.</a:t>
            </a:r>
          </a:p>
          <a:p>
            <a:r>
              <a:t>지도 위에 시뮬레이션으로 탄 자리와 위성 자료를 가공·보정한 참조 피해 범위가 겹쳐 보이고, 바람의 방향과 세기가 함께 표시됩니다.</a:t>
            </a:r>
          </a:p>
          <a:p>
            <a:r>
              <a:t>드론과 차량이 지금 어디에 있고 어떤 상태인지, 그리고 오른쪽에는 오케스트레이터가 내린 임무가 어디까지 진행됐는지가 보입니다.</a:t>
            </a:r>
          </a:p>
          <a:p>
            <a:r>
              <a:t>이 3D 화면 말고도, 2D 관제판에서는 지상 차량의 도착 예정 시간과 막힌 도로, 출동 상태를 표로 바로 볼 수 있습니다. 사용자 테스트에서도 출동 상태와 도착 예정 시간을 한 화면에서 보는 점이 좋았던 점으로 꼽혔습니다.</a:t>
            </a:r>
          </a:p>
          <a:p>
            <a:r>
              <a:t>상황실에서도, 지휘관도, 다른 지역에서 온 지원 인력도 같은 화면을 보면서 같은 상황을 이해할 수 있게 하는 것이 목표입니다.</a:t>
            </a:r>
          </a:p>
          <a:p>
            <a:endParaRPr/>
          </a:p>
          <a:p>
            <a:r>
              <a:t>[연결] 이 시스템은 다섯 명이 각자의 모듈을 맡아 하나로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다섯 명이 모듈을 나눠 맡고, API 계약과 통합 시험으로 하나의 폐루프로 연결했다.</a:t>
            </a:r>
          </a:p>
          <a:p>
            <a:r>
              <a:t>[시간] 약 35초</a:t>
            </a:r>
          </a:p>
          <a:p>
            <a:endParaRPr/>
          </a:p>
          <a:p>
            <a:r>
              <a:t>김은주 님이 산불 확산과 기상, 지형을 다루는 환경 모듈을, 김동현 님이 드론 에이전트를, 박유홍 님이 지상 차량 에이전트를 맡았습니다.</a:t>
            </a:r>
          </a:p>
          <a:p>
            <a:r>
              <a:t>이원규 님이 전체 시스템 통합과 관제판, 로그를 맡았고, 저 박수진이 오케스트레이터와 Safety, 그리고 지상 차량을 실제 기체용 제어 소프트웨어인 PX4에 연동하는 일을 맡았습니다.</a:t>
            </a:r>
          </a:p>
          <a:p>
            <a:r>
              <a:t>각자 만든 모듈은 미리 정한 API 계약과 통합 시험으로 연결했고, GitHub에서 코드가 바뀔 때마다 통합 시험이 자동으로 돌도록 해서 서로의 변경이 전체 흐름을 깨지 않는지 확인했습니다. 발표 직전인 10월 14일 기준 팀 main에서 IT-01·02, INT-01부터 05까지 전 단계 통과했습니다.</a:t>
            </a:r>
          </a:p>
          <a:p>
            <a:endParaRPr/>
          </a:p>
          <a:p>
            <a:r>
              <a:t>[연결] 그럼 이 시스템이 실제로 어떻게 돌아가는지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 메시지] 관측 → 판단 → 배정 → 복귀가 이어지는 모습을 시연 영상으로 보여 준다.</a:t>
            </a:r>
          </a:p>
          <a:p>
            <a:r>
              <a:t>[시간] 약 85초 (말 10초 + 영상 약 75초)</a:t>
            </a:r>
          </a:p>
          <a:p>
            <a:endParaRPr/>
          </a:p>
          <a:p>
            <a:r>
              <a:t>마지막으로 시연입니다. 산불이 발생하면 드론이 출동해 관측하고, 그 결과로 환경이 갱신되고, 지상 차량이 투입되고, 임무가 끝나면 복귀하는 흐름을 보시겠습니다.</a:t>
            </a:r>
          </a:p>
          <a:p>
            <a:endParaRPr/>
          </a:p>
          <a:p>
            <a:r>
              <a:t>(영상 재생 — 장면에 맞춰 짧게만 짚기: "지금 드론이 출동합니다", "관측 결과가 반영됐습니다", "지상 차량이 배정됐습니다", "임무를 마치고 복귀합니다")</a:t>
            </a:r>
          </a:p>
          <a:p>
            <a:endParaRPr/>
          </a:p>
          <a:p>
            <a:r>
              <a:t>[마무리 → 다음 슬라이드로 넘기며] 이상으로 ADAIR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[용도] 시연 영상 뒤 "이상으로 발표를 마치겠습니다"라고 말할 때 화면에 남겨 두는 장. 따로 설명하지 않는다.</a:t>
            </a:r>
          </a:p>
          <a:p>
            <a:r>
              <a:t>[숫자별 조건 — 질문 시]</a:t>
            </a:r>
          </a:p>
          <a:p>
            <a:r>
              <a:t>434 passed: 10/15 현재 코드, 실패 0, 실연동(LLM·기체) 3파일 제외. LLM 호출 434회가 아님.</a:t>
            </a:r>
          </a:p>
          <a:p>
            <a:r>
              <a:t>96/96: 지정 교차로 16곳 × 지면 2종 × 3회, 98회 중 무효 2 제외, 서스펜션 후보 조건. 전체 도로 성공률 100%가 아님.</a:t>
            </a:r>
          </a:p>
          <a:p>
            <a:r>
              <a:t>37.4 km: 평지 Gazebo 월드 1회, 51분 26초, 작은 도로 띠 이탈 1건(0.11 m) 별도 기록.</a:t>
            </a:r>
          </a:p>
          <a:p>
            <a:r>
              <a:t>1,082초(18분 02초): UAV 1 + UGV 1, 배정→이동→모의 관측→복귀·반납, LLM 끔, 화재 1셀, 1회. UGV 이탈·전복 0, UAV 최소 지형 여유 85.2 m.</a:t>
            </a:r>
          </a:p>
          <a:p>
            <a:r>
              <a:t>35.2초: gpt-5.5 1회, 형식 수리·규칙 대체 0, UGV 3지점 실행 + 운용자 지원 1건 (별도 16분 33초 운용).</a:t>
            </a:r>
          </a:p>
          <a:p>
            <a:r>
              <a:t>10명 → 1건: 현장 시연 10명(2026.10.6), 소수점 표시 개선 commit 4849ce3.</a:t>
            </a:r>
          </a:p>
          <a:p>
            <a:r>
              <a:t>다음 단계: 화재 테두리 발견 성능은 아직 측정 전.</a:t>
            </a:r>
          </a:p>
          <a:p>
            <a:r>
              <a:t>질문이 들어오면 해당 백업 슬라이드(Q1~Q10)로 이동.</a:t>
            </a:r>
          </a:p>
          <a:p>
            <a:r>
              <a:t>주의: Orchestrator 434와 UGV 161은 별도 테스트 집합이므로 합산해 말하지 않는다.</a:t>
            </a:r>
          </a:p>
          <a:p>
            <a:r>
              <a:t>주의: 1,082초는 18분 02초. '20분'이라고 말하지 않는다.</a:t>
            </a:r>
          </a:p>
          <a:p>
            <a:r>
              <a:t>주의: 96/96은 지정 교차로·후보 조건의 결과이지 전체 도로 성공률 100%가 아니다. 37.4 km는 평지 월드 1회.</a:t>
            </a:r>
          </a:p>
          <a:p>
            <a:r>
              <a:t>주의: 화재 발견 성능(테두리 발견률 등)은 아직 측정 전. 질문 시 '다음 단계'라고 답한다.</a:t>
            </a:r>
          </a:p>
          <a:p>
            <a:r>
              <a:t>주의: 배포 URL은 발표 당일 서버를 켠 뒤 다른 기기로 접속 확인. 안 되면 '외부 접속' 줄은 말로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Q1: 문제가 중요한가? → 2019 강원 산불백서에 공식 기록된 현장 문제. 초기 정보수집 부족, 전담인력 부재, 현장 확인 어려움, 무전보고 의존으로 인한 중복 지령, 대규모 지원자원 지휘 부담. 출처 페이지(pp.205–207)까지 말할 수 있게 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Q2: 지금 소방은? → 소방드론·무인로봇·항공 통합관제로 정보수집과 공유를 보강하고 있고, 드론·로봇 정보를 AI 분석과 자원배치까지 연결하는 방향으로 발전 중(추진·고도화·착수 단계). 저희는 그 흐름을 산불 시나리오에서 하나의 폐루프로 연결해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Q3: 누가 쓰나? → 산불 상황실, 현장 지휘관, 타 지역에서 투입된 지원 인력이 같은 상황정보를 공유하는 것을 사용 시나리오로 잡음. 백서에서 지원 인력의 지리 숙지 문제가 지적됐기 때문에 실제 지형·도로 위 공통 관제판과 연결된다. 실제 소방 조직 도입을 검증한 것은 아니라고 분명히.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Q4: 핵심 기술 / 제일 어려웠던 것? → 개별 드론이나 차량이 아니라, 계속 변하는 환경과 여러 자원을 하나의 폐루프로 연결하는 오케스트레이션 구조. 관측 → 환경 갱신 → Task 재평가 → Agent 수행가능성 → Safety → 실행 → 재관측.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Q5: 기존 관제와 차이 / 소방청도 이미 하지 않나? → 방향은 같다. 차이는 개별 장비의 관제가 아니라, 환경 변화·자원 상태·Agent 판단·Safety·재계획을 하나의 폐루프로 연결했다는 점. 단, '기존 소방시스템에는 이런 기능이 없다'고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Q6: 실제로 검증했나? → 총괄 판단과 실행 상태는 434개 자동시험으로, 이동 계층은 PX4·Gazebo에서 별도로 검증. 교차로 16곳×지면 2종×3회 유효 96회 통과, 평지 37.4 km 완료, UAV+UGV 통합 운용과 실제 LLM 계획 실행도 확인. 434개는 LLM 호출 434회가 아니다. 숫자는 합산하지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Q7: AI가 틀리면? / 규칙이면 되지 왜 AI? → 규칙으로 순서·관측 구역을 정하기 애매한 경우의 판단 보조. AI가 틀리면? → 검증 실패 시 재요청 1회, 그래도 실패하면 규칙 계획. 실행 전 Local Agent·Safety에서 한 번 더 걸러진다.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Q8: 사용자 테스트 했나? → 팀원 5명이 각자 2명씩, 서로 다른 10명. 우선순위 5개 개선 과제는 '계획' 상태라는 점을 분명히. 실제 반영 1건은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Q8-2: 피드백을 실제로 반영했나? → 사용자 1명의 '소수점 표시가 길어 읽기 어렵다'는 의견을 풍속 소수 1자리, 위·경도 소수 5자리, 고도 소수 1자리 유지로 정리해 commit 4849ce3로 반영. 나머지 개선 요청은 계획 상태.</a:t>
            </a:r>
          </a:p>
          <a:p>
            <a:r>
              <a:t>캡처의 풍속 값(4.40 vs 5.7)이 다른 건 두 캡처의 실행·시각이 달라서. 비교 대상은 자릿수.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Q9: 실제 현장 적용 가능? → 아니다. 지정 조건의 시뮬레이션 검증이며, 위 한계를 먼저 말한다. 결론 문장: 판단·이동·관측 통합의 연결 가능성과 지정 조건의 운용을 단계별 시험으로 확인했고, 실패 사례도 원인 분리와 재시험에 활용했다. 이제 장시간 화재 확산 조건에서 발견 성능을 정량 비교하는 단계다.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Q10: 어디까지 실제인가? → 입력 데이터는 실제(DEM·임상도·도로·수역·건물·ASOS 기상·위성 피해지 참조). 기체·차량 거동은 PX4·Gazebo 물리 시뮬레이션. 산불은 실제 데이터로 구동한 CA 모델로, 2019 인제 19시 약 10 ha와 위성 피해지에 맞춰 보정했지만 다른 산불에 일반화 검증은 안 됨. 바람은 관측소 값을 지도 전체에 균일 적용, 진화 효과 없음. 열화상은 모의.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E"/>
          </a:solidFill>
          <a:ln w="19050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 rot="5400000">
            <a:off x="5775807" y="2743200"/>
            <a:ext cx="640080" cy="640080"/>
          </a:xfrm>
          <a:prstGeom prst="triangl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109728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72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ADAIR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40680"/>
            <a:ext cx="10058400" cy="5486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산불 현장 정보를 모으고, 판단하고, 함께 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206240"/>
            <a:ext cx="822960" cy="73152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5047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2019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강원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산불백서는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초기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현장정보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부족을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지적했습니다</a:t>
            </a:r>
            <a:endParaRPr sz="2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2514600" cy="64008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057400" cy="5486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3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4884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초기 현장정보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148840" cy="7772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재난 발생 초기부터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78308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47288" y="1783080"/>
            <a:ext cx="2514600" cy="64008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874519"/>
            <a:ext cx="2057400" cy="5486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3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468880"/>
            <a:ext cx="214884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정보수집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전담인력 부재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429000"/>
            <a:ext cx="2148840" cy="7772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정보를 모을 전담 인력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78308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08776" y="1783080"/>
            <a:ext cx="2514600" cy="64008"/>
          </a:xfrm>
          <a:prstGeom prst="rect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1874519"/>
            <a:ext cx="2057400" cy="5486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3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68880"/>
            <a:ext cx="214884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무전보고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의존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429000"/>
            <a:ext cx="2148840" cy="7772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현장 확인 불가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 중복 지령 · 혼선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78308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1783080"/>
            <a:ext cx="2514600" cy="64008"/>
          </a:xfrm>
          <a:prstGeom prst="rect">
            <a:avLst/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4" y="1874519"/>
            <a:ext cx="2057400" cy="5486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3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468880"/>
            <a:ext cx="214884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지휘 한계를</a:t>
            </a:r>
          </a:p>
          <a:p>
            <a:pPr algn="l"/>
            <a:r>
              <a:rPr sz="21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넘는 자원 집결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3429000"/>
            <a:ext cx="2148840" cy="7772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타 시·도·중앙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장비 1,245대 집결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2019 강원 산불백서 · 피해·동원 pp.114·118·120 · 「강원 산불이 남긴 교훈」 pp.205–207 (1-3, 4-4, 2-2)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3447288" cy="566928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3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2,871.7</a:t>
            </a:r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01768"/>
            <a:ext cx="3447288" cy="25545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산림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피해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3일간 5개 </a:t>
            </a:r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시·군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434840"/>
            <a:ext cx="3447288" cy="566928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3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39,193</a:t>
            </a:r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001768"/>
            <a:ext cx="3447288" cy="25545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산불진화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동원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인력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5" y="4434840"/>
            <a:ext cx="3447288" cy="566928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3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2,374</a:t>
            </a:r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5001768"/>
            <a:ext cx="3447288" cy="25545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동원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타 </a:t>
            </a:r>
            <a:r>
              <a:rPr sz="13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시·도·중앙</a:t>
            </a:r>
            <a:r>
              <a:rPr sz="13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1,245대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 </a:t>
            </a:r>
          </a:p>
        </p:txBody>
      </p:sp>
      <p:sp>
        <p:nvSpPr>
          <p:cNvPr id="31" name="Implication"/>
          <p:cNvSpPr txBox="1"/>
          <p:nvPr/>
        </p:nvSpPr>
        <p:spPr>
          <a:xfrm>
            <a:off x="685800" y="5596128"/>
            <a:ext cx="10789920" cy="332399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lang="en-US" sz="1800" b="1" dirty="0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                   </a:t>
            </a:r>
            <a:r>
              <a:rPr sz="1800" b="1" dirty="0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→ 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정보를</a:t>
            </a:r>
            <a:r>
              <a:rPr sz="1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모으고</a:t>
            </a:r>
            <a:r>
              <a:rPr sz="1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상태를</a:t>
            </a:r>
            <a:r>
              <a:rPr sz="1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공유할</a:t>
            </a:r>
            <a:r>
              <a:rPr sz="1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구조가</a:t>
            </a:r>
            <a:r>
              <a:rPr sz="1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필요했습니다</a:t>
            </a:r>
            <a:endParaRPr sz="1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9859" y="958286"/>
            <a:ext cx="10045225" cy="5047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소방드론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676대가 2024년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재난현장에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4,623건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출동했습니다</a:t>
            </a:r>
            <a:endParaRPr sz="2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148840" cy="3662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1900" b="1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    </a:t>
            </a:r>
            <a:r>
              <a:rPr sz="1900" b="1" dirty="0" err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소방드론</a:t>
            </a:r>
            <a:endParaRPr sz="1900" b="1" dirty="0">
              <a:solidFill>
                <a:srgbClr val="3FB6A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148840" cy="68942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676대</a:t>
            </a:r>
            <a:r>
              <a:rPr lang="en-US"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</a:t>
            </a:r>
          </a:p>
          <a:p>
            <a:pPr algn="l"/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출동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4,623건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148840" cy="41148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2024년 · 현장 정보 파악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3566160"/>
            <a:ext cx="256032" cy="0"/>
          </a:xfrm>
          <a:prstGeom prst="line">
            <a:avLst/>
          </a:prstGeom>
          <a:ln w="25400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47872" y="224028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2514600"/>
            <a:ext cx="2148840" cy="3662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1900" b="1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900" b="1" dirty="0" err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무인소방로봇</a:t>
            </a:r>
            <a:endParaRPr sz="1900" b="1" dirty="0">
              <a:solidFill>
                <a:srgbClr val="3FB6A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6472" y="3310030"/>
            <a:ext cx="2148840" cy="381643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투입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시작</a:t>
            </a:r>
            <a:endParaRPr sz="20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6472" y="4297680"/>
            <a:ext cx="2148840" cy="41148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2026년 · 정보 수집·방수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08192" y="3566160"/>
            <a:ext cx="256032" cy="0"/>
          </a:xfrm>
          <a:prstGeom prst="line">
            <a:avLst/>
          </a:prstGeom>
          <a:ln w="25400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9944" y="2240280"/>
            <a:ext cx="2514600" cy="26517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8544" y="2514600"/>
            <a:ext cx="2148840" cy="597087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1700" b="1" dirty="0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    </a:t>
            </a:r>
            <a:r>
              <a:rPr sz="1700" b="1" dirty="0" err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AI·디지털</a:t>
            </a:r>
            <a:endParaRPr sz="1700" b="1" dirty="0">
              <a:solidFill>
                <a:srgbClr val="F2762E"/>
              </a:solidFill>
              <a:latin typeface="맑은 고딕"/>
              <a:ea typeface="맑은 고딕"/>
              <a:cs typeface="맑은 고딕"/>
            </a:endParaRPr>
          </a:p>
          <a:p>
            <a:pPr algn="l"/>
            <a:r>
              <a:rPr lang="en-US" sz="1700" b="1" dirty="0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700" b="1" dirty="0" err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현장지휘체계</a:t>
            </a:r>
            <a:endParaRPr sz="1700" b="1" dirty="0">
              <a:solidFill>
                <a:srgbClr val="F276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38544" y="3337560"/>
            <a:ext cx="2148840" cy="76636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드론·로봇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</a:t>
            </a:r>
            <a:endParaRPr sz="15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l"/>
            <a:r>
              <a:rPr lang="en-US"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→ AI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5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l"/>
            <a:r>
              <a:rPr lang="en-US"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자원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배치안</a:t>
            </a:r>
            <a:endParaRPr sz="15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38544" y="4297680"/>
            <a:ext cx="2148840" cy="273921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2026년 ·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추진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2016" y="2240280"/>
            <a:ext cx="2233879" cy="265176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4896" y="2423160"/>
            <a:ext cx="1868119" cy="228600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ctr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모은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정보를</a:t>
            </a:r>
            <a:endParaRPr sz="1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배정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</a:t>
            </a:r>
          </a:p>
          <a:p>
            <a:pPr algn="ctr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공유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재평가까지</a:t>
            </a:r>
            <a:endParaRPr sz="1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하나로</a:t>
            </a:r>
            <a:endParaRPr sz="1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이을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있을까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960120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소방청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보도자료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2025.2.26(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소방드론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) · 2026.1.16(AI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미래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소방체계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소방항공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통합관제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) · 2026.2.25(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무인소방로봇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) · 2026.3.18(ISMP)</a:t>
            </a:r>
          </a:p>
        </p:txBody>
      </p:sp>
      <p:sp>
        <p:nvSpPr>
          <p:cNvPr id="21" name="AlsoInProgress"/>
          <p:cNvSpPr txBox="1"/>
          <p:nvPr/>
        </p:nvSpPr>
        <p:spPr>
          <a:xfrm>
            <a:off x="685800" y="5120640"/>
            <a:ext cx="10835640" cy="486287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lang="en-US" sz="1400" b="1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          </a:t>
            </a:r>
          </a:p>
          <a:p>
            <a:pPr algn="l"/>
            <a:r>
              <a:rPr lang="en-US" sz="1400" b="1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400" b="1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추진</a:t>
            </a:r>
            <a:r>
              <a:rPr sz="1400" b="1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중 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소방항공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통합관제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플랫폼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(2026.1)   ·  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차세대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119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통합체계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ISMP </a:t>
            </a:r>
            <a:r>
              <a:rPr sz="14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14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(2026.3)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8087" y="686651"/>
            <a:ext cx="10355826" cy="5047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ADAIR는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정보수집·판단·공유를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하나의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흐름으로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연결했습니다</a:t>
            </a:r>
            <a:endParaRPr sz="2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65960" y="1874519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2222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40280" y="1874519"/>
            <a:ext cx="3108960" cy="100584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 · UGV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1874519"/>
            <a:ext cx="4572000" cy="100584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사람이 접근하기 어려운 위치도</a:t>
            </a:r>
          </a:p>
          <a:p>
            <a:pPr algn="r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원격으로 관측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916936"/>
            <a:ext cx="0" cy="384048"/>
          </a:xfrm>
          <a:prstGeom prst="line">
            <a:avLst/>
          </a:prstGeom>
          <a:ln w="2857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65960" y="333756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2222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3337560"/>
            <a:ext cx="3108960" cy="100584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3337560"/>
            <a:ext cx="4572000" cy="100584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여러 자원의 상태를 한 흐름에서</a:t>
            </a:r>
          </a:p>
          <a:p>
            <a:pPr algn="r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재평가 · 배정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4379976"/>
            <a:ext cx="0" cy="384048"/>
          </a:xfrm>
          <a:prstGeom prst="line">
            <a:avLst/>
          </a:prstGeom>
          <a:ln w="2857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65960" y="4800600"/>
            <a:ext cx="8229600" cy="100584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2222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4800600"/>
            <a:ext cx="3108960" cy="100584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2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Web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4800600"/>
            <a:ext cx="4572000" cy="1005840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전화 · 무전과 함께</a:t>
            </a:r>
          </a:p>
          <a:p>
            <a:pPr algn="r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같은 화면의 상황정보를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ctr"/>
            <a:r>
              <a:rPr sz="20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정보수집   +   판단 · 자원배정   +   공통 상황 공유</a:t>
            </a:r>
          </a:p>
        </p:txBody>
      </p:sp>
      <p:sp>
        <p:nvSpPr>
          <p:cNvPr id="16" name="Legend"/>
          <p:cNvSpPr txBox="1"/>
          <p:nvPr/>
        </p:nvSpPr>
        <p:spPr>
          <a:xfrm>
            <a:off x="1965960" y="1481328"/>
            <a:ext cx="822960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Feature</a:t>
            </a:r>
            <a:r>
              <a:rPr sz="13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 →  </a:t>
            </a:r>
            <a:r>
              <a:rPr sz="13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Outcome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9864" y="671166"/>
            <a:ext cx="8104239" cy="5047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결과가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Task와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자원배정에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반영됩니다</a:t>
            </a:r>
            <a:endParaRPr sz="2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726180" y="1956815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UAV · UGV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402" y="284835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환경 갱신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402" y="463143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위험 · Task 재평가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6180" y="552297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수행 가능성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Local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957" y="463143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Safety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957" y="2848356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자원 배정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44402" y="246993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66102" y="3680460"/>
            <a:ext cx="0" cy="86868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844402" y="514455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033180" y="514455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43657" y="3680460"/>
            <a:ext cx="0" cy="86868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33180" y="2469930"/>
            <a:ext cx="632177" cy="615119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03320" y="3730752"/>
            <a:ext cx="2103120" cy="768096"/>
          </a:xfrm>
          <a:prstGeom prst="roundRect">
            <a:avLst>
              <a:gd name="adj" fmla="val 12000"/>
            </a:avLst>
          </a:prstGeom>
          <a:solidFill>
            <a:srgbClr val="1E2F4A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Orchestrator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514600"/>
            <a:ext cx="2240280" cy="292608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Web</a:t>
            </a:r>
          </a:p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Dashboard</a:t>
            </a:r>
          </a:p>
          <a:p>
            <a:pPr algn="ctr"/>
            <a:endParaRPr sz="1800" b="1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관측 · 판단 · 배정</a:t>
            </a:r>
          </a:p>
          <a:p>
            <a:pPr algn="ctr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상태를 같은 화면에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52460" y="4114800"/>
            <a:ext cx="982980" cy="0"/>
          </a:xfrm>
          <a:prstGeom prst="line">
            <a:avLst/>
          </a:prstGeom>
          <a:ln w="19050">
            <a:solidFill>
              <a:srgbClr val="5E6E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mplication"/>
          <p:cNvSpPr txBox="1"/>
          <p:nvPr/>
        </p:nvSpPr>
        <p:spPr>
          <a:xfrm>
            <a:off x="1619863" y="1376761"/>
            <a:ext cx="8104239" cy="301621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6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1회 </a:t>
            </a:r>
            <a:r>
              <a:rPr sz="16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배치로</a:t>
            </a:r>
            <a:r>
              <a:rPr sz="16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끝나지</a:t>
            </a:r>
            <a:r>
              <a:rPr sz="16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않습니다</a:t>
            </a:r>
            <a:r>
              <a:rPr sz="16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→ 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환경과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자원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상태가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바뀌면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임무를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판단합니다</a:t>
            </a:r>
            <a:endParaRPr sz="1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5420" y="621040"/>
            <a:ext cx="7641878" cy="5047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r>
              <a:rPr lang="en-US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가 제안해도</a:t>
            </a:r>
            <a:r>
              <a:rPr lang="en-US" altLang="ko-KR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검증을 통과해야만 실행됩니다</a:t>
            </a:r>
            <a:r>
              <a:rPr lang="en-US" altLang="ko-KR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2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880360" y="155448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E2F4A"/>
          </a:solidFill>
          <a:ln w="2222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54679" y="1554480"/>
            <a:ext cx="201168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554480"/>
            <a:ext cx="219456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계획 제안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79" y="2194560"/>
            <a:ext cx="0" cy="118872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33172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79" y="2331720"/>
            <a:ext cx="201168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결정론적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219456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형식 · 실제 ID · 입력 상태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2971800"/>
            <a:ext cx="0" cy="118872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310896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3108960"/>
            <a:ext cx="201168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Local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08960"/>
            <a:ext cx="219456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수행 가능 여부 판단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79" y="3749039"/>
            <a:ext cx="0" cy="118873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80360" y="388620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79" y="3886200"/>
            <a:ext cx="201168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886200"/>
            <a:ext cx="219456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실행 전 안전 검증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79" y="4526279"/>
            <a:ext cx="0" cy="118873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0360" y="4663440"/>
            <a:ext cx="4206240" cy="621792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79" y="4663440"/>
            <a:ext cx="201168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9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663440"/>
            <a:ext cx="2194560" cy="62179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자원 예약 · 명령 1회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00200"/>
            <a:ext cx="2011680" cy="566928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5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AI의 역할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331720"/>
            <a:ext cx="2011680" cy="2176272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시스템의 역할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011680"/>
            <a:ext cx="3520440" cy="128016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4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검증 실패 → 재요청 1회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재실패 · 호출 실패 →</a:t>
            </a:r>
          </a:p>
          <a:p>
            <a:pPr algn="l"/>
            <a:r>
              <a:rPr sz="14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규칙 기반 계획으로 대체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0" y="2642615"/>
            <a:ext cx="822959" cy="0"/>
          </a:xfrm>
          <a:prstGeom prst="line">
            <a:avLst/>
          </a:prstGeom>
          <a:ln w="19050">
            <a:solidFill>
              <a:srgbClr val="5E6E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3269" y="5611227"/>
            <a:ext cx="9500419" cy="443198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ctr"/>
            <a:r>
              <a:rPr sz="2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2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가 틀려도 곧바로 </a:t>
            </a:r>
            <a:r>
              <a:rPr lang="ko-KR" altLang="en-US" sz="2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</a:t>
            </a:r>
            <a:r>
              <a:rPr lang="en-US" altLang="ko-KR" sz="2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2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차량 명령이 되지 않습니다</a:t>
            </a:r>
            <a:r>
              <a:rPr lang="en-US" altLang="ko-KR" sz="2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24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5047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lang="en-US"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     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산불·기상·UAV·UGV·임무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상태를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화면에</a:t>
            </a:r>
            <a:r>
              <a:rPr sz="28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모았습니다</a:t>
            </a:r>
            <a:endParaRPr sz="28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" name="Picture 3" descr="6-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7" y="1097280"/>
            <a:ext cx="8869680" cy="508472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007711" y="3557015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790291" y="2980486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890357" y="2492654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442551" y="3601364"/>
            <a:ext cx="402336" cy="402336"/>
          </a:xfrm>
          <a:prstGeom prst="ellipse">
            <a:avLst/>
          </a:prstGeom>
          <a:solidFill>
            <a:srgbClr val="F2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300" b="1">
                <a:solidFill>
                  <a:srgbClr val="0E1829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6273448"/>
            <a:ext cx="8869680" cy="473976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산불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피해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 2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풍향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풍속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 3 UAV · UGV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위치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 4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총괄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임무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진행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ETA는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2D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관제판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 ·  </a:t>
            </a:r>
            <a:endParaRPr lang="en-US" sz="1300" b="0" dirty="0">
              <a:solidFill>
                <a:srgbClr val="93A1B5"/>
              </a:solidFill>
              <a:latin typeface="맑은 고딕"/>
              <a:ea typeface="맑은 고딕"/>
              <a:cs typeface="맑은 고딕"/>
            </a:endParaRPr>
          </a:p>
          <a:p>
            <a:pPr algn="l"/>
            <a:r>
              <a:rPr lang="en-US" sz="130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2019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인제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산불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재현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시뮬레이션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여러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사용자가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상태정보를</a:t>
            </a:r>
            <a:r>
              <a:rPr sz="13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300" b="0" dirty="0">
              <a:solidFill>
                <a:srgbClr val="93A1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5명이 5개 모듈을 맡고 API 계약과 통합시험으로 연결했습니다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80" y="16459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Web Dashboard · 시스템 통합 · 로그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이원규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3063240"/>
            <a:ext cx="4023360" cy="10515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Orchestrator · Safety</a:t>
            </a:r>
          </a:p>
          <a:p>
            <a:pPr algn="ctr"/>
            <a:r>
              <a:rPr sz="1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박수진  (+ UGV 제어 SW 연동)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63240"/>
            <a:ext cx="2743200" cy="10515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김은주  산불 · 기상 · 지형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709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 Agent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김동현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709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9050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Agent</a:t>
            </a:r>
          </a:p>
          <a:p>
            <a:pPr algn="ctr"/>
            <a:r>
              <a:rPr sz="14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박유홍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3584448"/>
            <a:ext cx="548640" cy="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0760" y="2606040"/>
            <a:ext cx="0" cy="41148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480560" y="4160520"/>
            <a:ext cx="640080" cy="50292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4160520"/>
            <a:ext cx="640080" cy="502920"/>
          </a:xfrm>
          <a:prstGeom prst="line">
            <a:avLst/>
          </a:prstGeom>
          <a:ln w="22225">
            <a:solidFill>
              <a:srgbClr val="93A1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06840" y="2697480"/>
            <a:ext cx="2514600" cy="178308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2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API 계약</a:t>
            </a:r>
          </a:p>
          <a:p>
            <a:pPr algn="ct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+ GitHub Actions 통합시험</a:t>
            </a:r>
          </a:p>
          <a:p>
            <a:pPr algn="ct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IT-01·02 · INT-01~05</a:t>
            </a:r>
          </a:p>
          <a:p>
            <a:pPr algn="ct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전 단계 통과</a:t>
            </a:r>
          </a:p>
          <a:p>
            <a:pPr algn="ctr"/>
            <a:r>
              <a:rPr sz="12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2026.10.14 · 팀 main</a:t>
            </a:r>
          </a:p>
        </p:txBody>
      </p:sp>
      <p:sp>
        <p:nvSpPr>
          <p:cNvPr id="14" name="Implication"/>
          <p:cNvSpPr txBox="1"/>
          <p:nvPr/>
        </p:nvSpPr>
        <p:spPr>
          <a:xfrm>
            <a:off x="1805940" y="5822777"/>
            <a:ext cx="8549640" cy="2862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모듈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분담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→  API </a:t>
            </a:r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계약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→  팀 main </a:t>
            </a:r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변경마다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통합시험</a:t>
            </a:r>
            <a:r>
              <a:rPr sz="1500" b="0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 → 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하나의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시스템으로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통합</a:t>
            </a:r>
            <a:endParaRPr sz="15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48640"/>
            <a:ext cx="10820095" cy="5669280"/>
          </a:xfrm>
          <a:prstGeom prst="rect">
            <a:avLst/>
          </a:prstGeom>
          <a:solidFill>
            <a:srgbClr val="0A111E"/>
          </a:solidFill>
          <a:ln w="19050">
            <a:solidFill>
              <a:srgbClr val="34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5775807" y="2743200"/>
            <a:ext cx="640080" cy="640080"/>
          </a:xfrm>
          <a:prstGeom prst="triangle">
            <a:avLst/>
          </a:prstGeom>
          <a:solidFill>
            <a:srgbClr val="F2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10820095" cy="41148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ctr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ADAIR 최종 시연 영상 (약 75초)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820095" cy="3657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ct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영상 삽입 위치 — 클릭 재생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380" y="826862"/>
            <a:ext cx="10789920" cy="473976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로직부터</a:t>
            </a:r>
            <a:r>
              <a:rPr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UAV-</a:t>
            </a:r>
            <a:r>
              <a:rPr lang="en-US"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</a:t>
            </a:r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가상</a:t>
            </a:r>
            <a:r>
              <a:rPr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환경</a:t>
            </a:r>
            <a:r>
              <a:rPr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내 </a:t>
            </a:r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이동·협업까지</a:t>
            </a:r>
            <a:r>
              <a:rPr sz="2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검증했습니다</a:t>
            </a:r>
            <a:endParaRPr sz="2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ile1"/>
          <p:cNvSpPr/>
          <p:nvPr/>
        </p:nvSpPr>
        <p:spPr>
          <a:xfrm>
            <a:off x="685800" y="196596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148840"/>
            <a:ext cx="3063240" cy="868680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4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434</a:t>
            </a:r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passed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017520"/>
            <a:ext cx="30632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총괄 자동시험 통과</a:t>
            </a:r>
          </a:p>
        </p:txBody>
      </p:sp>
      <p:sp>
        <p:nvSpPr>
          <p:cNvPr id="26" name="Tile2"/>
          <p:cNvSpPr/>
          <p:nvPr/>
        </p:nvSpPr>
        <p:spPr>
          <a:xfrm>
            <a:off x="4389120" y="196596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2148840"/>
            <a:ext cx="3063240" cy="868680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4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96/96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017520"/>
            <a:ext cx="30632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교차로 반복 통과</a:t>
            </a:r>
          </a:p>
        </p:txBody>
      </p:sp>
      <p:sp>
        <p:nvSpPr>
          <p:cNvPr id="29" name="Tile3"/>
          <p:cNvSpPr/>
          <p:nvPr/>
        </p:nvSpPr>
        <p:spPr>
          <a:xfrm>
            <a:off x="8092440" y="196596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148840"/>
            <a:ext cx="3063240" cy="868680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4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37.4</a:t>
            </a:r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17520"/>
            <a:ext cx="30632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장거리 주행</a:t>
            </a:r>
          </a:p>
        </p:txBody>
      </p:sp>
      <p:sp>
        <p:nvSpPr>
          <p:cNvPr id="32" name="Tile4"/>
          <p:cNvSpPr/>
          <p:nvPr/>
        </p:nvSpPr>
        <p:spPr>
          <a:xfrm>
            <a:off x="685800" y="3840479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023359"/>
            <a:ext cx="3063240" cy="868680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4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1,082</a:t>
            </a:r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92040"/>
            <a:ext cx="30632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 + UGV 통합 운용</a:t>
            </a:r>
          </a:p>
        </p:txBody>
      </p:sp>
      <p:sp>
        <p:nvSpPr>
          <p:cNvPr id="35" name="Tile5"/>
          <p:cNvSpPr/>
          <p:nvPr/>
        </p:nvSpPr>
        <p:spPr>
          <a:xfrm>
            <a:off x="4389120" y="3840479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4023359"/>
            <a:ext cx="3063240" cy="868680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4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35.2</a:t>
            </a:r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892040"/>
            <a:ext cx="30632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 LLM 계획 응답</a:t>
            </a:r>
          </a:p>
        </p:txBody>
      </p:sp>
      <p:sp>
        <p:nvSpPr>
          <p:cNvPr id="38" name="Tile6"/>
          <p:cNvSpPr/>
          <p:nvPr/>
        </p:nvSpPr>
        <p:spPr>
          <a:xfrm>
            <a:off x="8092440" y="3840479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4023359"/>
            <a:ext cx="3063240" cy="868680"/>
          </a:xfrm>
          <a:prstGeom prst="rect">
            <a:avLst/>
          </a:prstGeom>
          <a:noFill/>
        </p:spPr>
        <p:txBody>
          <a:bodyPr wrap="square" lIns="73152" tIns="27432" rIns="73152" bIns="27432" anchor="b">
            <a:spAutoFit/>
          </a:bodyPr>
          <a:lstStyle/>
          <a:p>
            <a:pPr algn="l"/>
            <a:r>
              <a:rPr sz="44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명 → 1건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892040"/>
            <a:ext cx="30632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7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사용자 테스트 → UI 반영</a:t>
            </a:r>
          </a:p>
        </p:txBody>
      </p:sp>
      <p:sp>
        <p:nvSpPr>
          <p:cNvPr id="41" name="Implication"/>
          <p:cNvSpPr txBox="1"/>
          <p:nvPr/>
        </p:nvSpPr>
        <p:spPr>
          <a:xfrm>
            <a:off x="1831995" y="5809024"/>
            <a:ext cx="8497529" cy="363176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2000" b="1" dirty="0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→ 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이동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관측의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연결을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지정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시뮬레이션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조건에서</a:t>
            </a:r>
            <a:r>
              <a:rPr sz="20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확인했습니다</a:t>
            </a:r>
            <a:endParaRPr sz="20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Q1. 이 문제가 정말 중요한 문제인가요?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초기 정보수집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재난 발생 초기부터 현장 정보수집 부족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020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0204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전담 인력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0204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정보수집 전담인력 부재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3440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34409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현장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34409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넓은 현장을 상황실 · 지휘관이 직접 확인하기 어려움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5861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458614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무전 의존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458614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 확인 불가 → 무전보고 의존 → 중복 지령 · 혼선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8281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82819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지원 자원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182819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응원 자원 동시 집결로 지휘 한계 초과 (2-2)  ·  타 시·도 인력 지리 숙지 부족 (3-2)</a:t>
            </a:r>
          </a:p>
        </p:txBody>
      </p:sp>
      <p:sp>
        <p:nvSpPr>
          <p:cNvPr id="20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22" name="Answer"/>
          <p:cNvSpPr txBox="1"/>
          <p:nvPr/>
        </p:nvSpPr>
        <p:spPr>
          <a:xfrm>
            <a:off x="1325880" y="1668845"/>
            <a:ext cx="10058400" cy="301621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산림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2,871.7 ha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피해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연인원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39,193명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2,374대가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동원된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현장에서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공식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기록된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문제입니다</a:t>
            </a:r>
            <a:endParaRPr sz="1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Source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2019 강원 산불백서 · 피해·동원 pp.114·118·120 · 「강원 산불이 남긴 교훈」 pp.205–207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Q2. 그 문제는 지금 소방에서 어떻게 해결하고 있나요?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7373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2025.2.26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286000"/>
            <a:ext cx="87782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소방드론 676대(2024년 말) · 2024년 출동 4,623건 · 재난현장 정보 파악·수색구조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020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0204"/>
            <a:ext cx="17373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2026.1.16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10204"/>
            <a:ext cx="87782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드론·로봇 정보를 AI가 분석해 화재 확산 경로·자원 배치안을 제시하는 현장지휘체계로 전환 추진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3440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34409"/>
            <a:ext cx="17373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2026.1.16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34409"/>
            <a:ext cx="87782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소방헬기·드론 위치와 기상을 3D 지도로 시각화하는 소방항공 통합관제 플랫폼 고도화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5861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458614"/>
            <a:ext cx="17373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2026.2.25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458614"/>
            <a:ext cx="87782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무인소방로봇 4대 기증 · 2대 실전 투입 · 1.30 충북 음성 공장 화재 첫 투입 (지하·물류창고 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8281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82819"/>
            <a:ext cx="17373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2026.3.18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182819"/>
            <a:ext cx="87782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차세대 119 통합체계 정보화전략계획(ISMP) 수립 착수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출처: 소방청 보도자료 (nfa.go.kr) · ADAIR는 이 흐름을 산불 시나리오에서 하나의 폐루프로 연결해 본 시뮬레이션 프로젝트 (기존 체계 대체 아님)</a:t>
            </a:r>
          </a:p>
        </p:txBody>
      </p:sp>
      <p:sp>
        <p:nvSpPr>
          <p:cNvPr id="21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23" name="Answer"/>
          <p:cNvSpPr txBox="1"/>
          <p:nvPr/>
        </p:nvSpPr>
        <p:spPr>
          <a:xfrm>
            <a:off x="1325880" y="1536192"/>
            <a:ext cx="1005840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 · 무인로봇 · 항공 통합관제로 정보수집과 공유를 보강하고, AI 분석 · 자원배치 연결로 발전 중입니다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Q3. 누가 이 시스템을 쓰나요?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산불 상황실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 · 기상 · 자원 · 임무 진행을 한 화면에서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020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0204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현장 지휘관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0204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직접 확인하기 어려운 구역을 UAV · UGV 관측 결과로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3440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34409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타 지역 지원 인력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34409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 지형 · 도로 위 공통 지도로 위치 파악 (백서: 지리 숙지 부족)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5861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458614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사용자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618989"/>
            <a:ext cx="8138160" cy="30469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서로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10명 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시연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피드백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(2026.10.6) 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참여자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50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150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일반인</a:t>
            </a:r>
            <a:endParaRPr sz="1500" b="0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518281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82819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182819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사용 시나리오 설정 단계 · 실제 소방 조직 도입 검증은 아님</a:t>
            </a:r>
          </a:p>
        </p:txBody>
      </p:sp>
      <p:sp>
        <p:nvSpPr>
          <p:cNvPr id="20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22" name="Answer"/>
          <p:cNvSpPr txBox="1"/>
          <p:nvPr/>
        </p:nvSpPr>
        <p:spPr>
          <a:xfrm>
            <a:off x="1325880" y="1668845"/>
            <a:ext cx="10058400" cy="301621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상황실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지휘관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타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지역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인력이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상황정보를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공유하는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것을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시나리오로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잡았습니다</a:t>
            </a:r>
            <a:endParaRPr sz="16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Q4. ADAIR의 핵심 기술은 무엇인가요?</a:t>
            </a:r>
          </a:p>
        </p:txBody>
      </p:sp>
      <p:sp>
        <p:nvSpPr>
          <p:cNvPr id="5" name="AnswerBand"/>
          <p:cNvSpPr/>
          <p:nvPr/>
        </p:nvSpPr>
        <p:spPr>
          <a:xfrm>
            <a:off x="685800" y="1536192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swerMark"/>
          <p:cNvSpPr txBox="1"/>
          <p:nvPr/>
        </p:nvSpPr>
        <p:spPr>
          <a:xfrm>
            <a:off x="822960" y="1536192"/>
            <a:ext cx="54864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1325880" y="1536192"/>
            <a:ext cx="1005840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개별 드론 · 차량이 아니라, 계속 변하는 환경과 여러 자원을 하나의 폐루프로 연결하는 오케스트레이션 구조입니다</a:t>
            </a:r>
          </a:p>
        </p:txBody>
      </p:sp>
      <p:sp>
        <p:nvSpPr>
          <p:cNvPr id="8" name="Chain1"/>
          <p:cNvSpPr/>
          <p:nvPr/>
        </p:nvSpPr>
        <p:spPr>
          <a:xfrm>
            <a:off x="685800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UAV · UGV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715768"/>
            <a:ext cx="320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Chain2"/>
          <p:cNvSpPr/>
          <p:nvPr/>
        </p:nvSpPr>
        <p:spPr>
          <a:xfrm>
            <a:off x="2267712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7712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환경 갱신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715768"/>
            <a:ext cx="320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Chain3"/>
          <p:cNvSpPr/>
          <p:nvPr/>
        </p:nvSpPr>
        <p:spPr>
          <a:xfrm>
            <a:off x="3849624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9624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Task 재평가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715768"/>
            <a:ext cx="320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Chain4"/>
          <p:cNvSpPr/>
          <p:nvPr/>
        </p:nvSpPr>
        <p:spPr>
          <a:xfrm>
            <a:off x="5431536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31536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수행가능성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Local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39" y="2715768"/>
            <a:ext cx="320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0" name="Chain5"/>
          <p:cNvSpPr/>
          <p:nvPr/>
        </p:nvSpPr>
        <p:spPr>
          <a:xfrm>
            <a:off x="7013448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13448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Safety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실행 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715768"/>
            <a:ext cx="320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3" name="Chain6"/>
          <p:cNvSpPr/>
          <p:nvPr/>
        </p:nvSpPr>
        <p:spPr>
          <a:xfrm>
            <a:off x="8595360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자원 예약 · 명령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2715768"/>
            <a:ext cx="3200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6" name="Chain7"/>
          <p:cNvSpPr/>
          <p:nvPr/>
        </p:nvSpPr>
        <p:spPr>
          <a:xfrm>
            <a:off x="10177272" y="2514600"/>
            <a:ext cx="1316736" cy="8686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77272" y="2532888"/>
            <a:ext cx="1316736" cy="8412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ctr"/>
            <a:r>
              <a:rPr sz="10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다시 처음으로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447288"/>
            <a:ext cx="1083564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ctr"/>
            <a:r>
              <a:rPr sz="13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↺  재관측 결과가 다시 환경 갱신으로 들어가 Task와 자원배정을 다시 판단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77639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23774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변하는 환경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977639"/>
            <a:ext cx="804672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관측마다 총괄의 인지 지도 갱신 → 위험과 Task를 다시 평가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1772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617720"/>
            <a:ext cx="23774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여러 자원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617720"/>
            <a:ext cx="804672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UAV · UGV의 상태와 수행가능성을 매번 다시 확인한 뒤 배정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25780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23774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실행 통제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257800"/>
            <a:ext cx="804672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LLM 제안도 Validator · Local Agent · Safety를 통과해야 실행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본문 05 (폐루프) · 06 (LLM 통제) 참조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Q5. 기존 드론 · 소방 관제 시스템과 무엇이 다른가요?</a:t>
            </a:r>
          </a:p>
        </p:txBody>
      </p:sp>
      <p:sp>
        <p:nvSpPr>
          <p:cNvPr id="5" name="AnswerBand"/>
          <p:cNvSpPr/>
          <p:nvPr/>
        </p:nvSpPr>
        <p:spPr>
          <a:xfrm>
            <a:off x="685800" y="1536192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swerMark"/>
          <p:cNvSpPr txBox="1"/>
          <p:nvPr/>
        </p:nvSpPr>
        <p:spPr>
          <a:xfrm>
            <a:off x="822960" y="1536192"/>
            <a:ext cx="54864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1325880" y="1536192"/>
            <a:ext cx="1005840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방향은 소방청과 같습니다. 차이는 환경 변화 · 자원 상태 · Agent 판단 · Safety · 재계획을 하나의 폐루프로 연결했다는 점입니다</a:t>
            </a:r>
          </a:p>
        </p:txBody>
      </p:sp>
      <p:sp>
        <p:nvSpPr>
          <p:cNvPr id="8" name="EquipCard"/>
          <p:cNvSpPr/>
          <p:nvPr/>
        </p:nvSpPr>
        <p:spPr>
          <a:xfrm>
            <a:off x="685800" y="2487168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56616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5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장비 중심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088"/>
            <a:ext cx="356616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드론 관측  /  로봇 투입  /  위치 관제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52928"/>
            <a:ext cx="45720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0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" name="AdairCard"/>
          <p:cNvSpPr/>
          <p:nvPr/>
        </p:nvSpPr>
        <p:spPr>
          <a:xfrm>
            <a:off x="5074920" y="2487168"/>
            <a:ext cx="6446520" cy="132588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 w="1587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2578608"/>
            <a:ext cx="603504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5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ADAIR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990088"/>
            <a:ext cx="603504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 → 판단 → 배정 → 안전검증 → 실행 → 재관측 → 재평가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77639"/>
            <a:ext cx="10835640" cy="512064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2377440" cy="512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상황 공유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77639"/>
            <a:ext cx="8046720" cy="512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전화 · 무전 중심  →  공통 상황판 병행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53712"/>
            <a:ext cx="10835640" cy="512064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53712"/>
            <a:ext cx="2377440" cy="512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자원 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553712"/>
            <a:ext cx="8046720" cy="512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1회 배치가 아니라  →  관측 결과에 따라 재평가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29784"/>
            <a:ext cx="10835640" cy="512064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29784"/>
            <a:ext cx="2377440" cy="512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 계획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129784"/>
            <a:ext cx="8046720" cy="51206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 제안을 바로 실행하지 않고  →  검증 후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60720"/>
            <a:ext cx="1083564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※ ADAIR 설계에서 택한 구조입니다. 기존 소방시스템에 이런 기능이 없다고 단정하지 않습니다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소방청 현황은 Q2 · 공개 보도자료 기준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Q6. 실제로 검증했나요?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자동 통합 시험 (CI)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237744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팀 main · GitHub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94560"/>
            <a:ext cx="539496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IT-01·02 · INT-01~05 통과 (10.14)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80944"/>
            <a:ext cx="274320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총괄 자동시험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80944"/>
            <a:ext cx="237744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ADAIR · 10.15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80944"/>
            <a:ext cx="539496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434 passed · 실패 0 (실연동 3파일 제외) · UGV 161 passed (10.14)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67328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274320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PX4 · Gazebo 통합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968695"/>
            <a:ext cx="2377440" cy="273921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lang="en-US" sz="1300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ADAIR</a:t>
            </a:r>
            <a:r>
              <a:rPr sz="1300" b="0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 · 10.11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67328"/>
            <a:ext cx="539496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UAV 1 + UGV 1 · 1,082초 · UGV 이탈·전복 0 · UAV 최소 지형 여유 85.2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53712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53712"/>
            <a:ext cx="274320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LLM 실호출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55079"/>
            <a:ext cx="2377440" cy="273921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lang="en-US" sz="1300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ADAIR</a:t>
            </a:r>
            <a:r>
              <a:rPr sz="1300" b="0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 · 10.11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53712"/>
            <a:ext cx="539496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gpt-5.5 1회 · 35.2초 · 수리·대체 0 · UGV 3지점 + 운용자 지원 1건 (16분 33초 운용)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0096"/>
            <a:ext cx="10835640" cy="676656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0096"/>
            <a:ext cx="274320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UGV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41463"/>
            <a:ext cx="2377440" cy="273921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lang="en-US" sz="1300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ADAIR</a:t>
            </a:r>
            <a:r>
              <a:rPr sz="1300" b="0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 · 10.13~14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340096"/>
            <a:ext cx="5394960" cy="676656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교차로 유효 96/96 · 평지 37.4 km(1회) · 내리막 정지 6/6 (후보 조건)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09360"/>
            <a:ext cx="9601200" cy="243143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: docs/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intergration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/04 ·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CI범위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시험결과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· UGV S1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재검증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평지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A→B · 최종500Hz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경사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lang="en-US" sz="110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ADAIR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) ·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합산</a:t>
            </a:r>
            <a:r>
              <a:rPr sz="1100" b="0" dirty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 안 함</a:t>
            </a:r>
          </a:p>
        </p:txBody>
      </p:sp>
      <p:sp>
        <p:nvSpPr>
          <p:cNvPr id="27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29" name="Answer"/>
          <p:cNvSpPr txBox="1"/>
          <p:nvPr/>
        </p:nvSpPr>
        <p:spPr>
          <a:xfrm>
            <a:off x="1325880" y="1536192"/>
            <a:ext cx="1005840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네. 다만 실제 재난현장이 아니라, 지정된 시뮬레이션 조건에서 검증했습니다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Q7. AI가 틀리면 어떻게 하나요?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5303520" cy="15544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59152"/>
            <a:ext cx="484632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무엇을 제안하나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484632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출동 순서 추천 — 위험도가 비슷한 임무 묶음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관측 계획 — 예상 화재 구역 · 자원별 관측 순서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40280"/>
            <a:ext cx="5303520" cy="15544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59152"/>
            <a:ext cx="484632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무엇을 못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84632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좌표 · 고도 · 위험 점수 생성 (출력 칸 없음)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장비 직접 명령 · Safety 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31920"/>
            <a:ext cx="5303520" cy="15544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50791"/>
            <a:ext cx="484632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8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어떻게 검증하나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84632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형식 · 자료형 · 입력 상태(state_version · hash)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입력에 있는 임무 · 자원 · 구역 ID만 · 중복 · 누락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303520" cy="155448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050791"/>
            <a:ext cx="484632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8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실패하면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4846320" cy="914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오류 목록으로 1회 재요청 → 그래도 실패 시 규칙 계획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60초 초과 · 호출 50회 초과 · 키 없음 → 규칙 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모델 gpt-5.5 (OpenAI 호환 API) · 대표 정상 통합 시연에서는 LLM 관측 계획을 끔 — 계획 지점까지의 UGV 경로가 사전 검증 경로가 아니므로</a:t>
            </a:r>
          </a:p>
        </p:txBody>
      </p:sp>
      <p:sp>
        <p:nvSpPr>
          <p:cNvPr id="18" name="AnswerBand"/>
          <p:cNvSpPr/>
          <p:nvPr/>
        </p:nvSpPr>
        <p:spPr>
          <a:xfrm>
            <a:off x="685800" y="1536192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swerMark"/>
          <p:cNvSpPr txBox="1"/>
          <p:nvPr/>
        </p:nvSpPr>
        <p:spPr>
          <a:xfrm>
            <a:off x="822960" y="1536192"/>
            <a:ext cx="54864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20" name="Answer"/>
          <p:cNvSpPr txBox="1"/>
          <p:nvPr/>
        </p:nvSpPr>
        <p:spPr>
          <a:xfrm>
            <a:off x="1325880" y="1536192"/>
            <a:ext cx="1005840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AI에는 실행권이 없습니다. 규칙으로 고르기 애매한 순서 · 관측계획을 제안만 하고, 검증 실패 시 규칙 계획으로 대체합니다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Q8. 실제 사용자가 써봤나요?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12064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900" b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좋았던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5120640" cy="2743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실제 지형 기반 지도와 산불 확산 표현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화재와 대응 자원을 한 화면에서 확인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출동 상태 · 도착 예정 시간(ETA)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9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개선 요청 → 우선순위 (계획)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34640"/>
            <a:ext cx="5303520" cy="32004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1  현재 상황 · 임무 목적 요약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2  격자 번호 대신 실제 지명 병기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3  신고 → 출동 → 도착 → 복귀 타임라인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4  지도 클릭으로 위치 선택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5  풍향 화살표 · 드론 이동 목적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근거: docs/common/ADAIR_사용자_피드백.md (참여자 식별정보 미기록) · 우선순위 5개는 계획 단계 · 실제 반영 1건은 다음 장</a:t>
            </a:r>
          </a:p>
        </p:txBody>
      </p:sp>
      <p:sp>
        <p:nvSpPr>
          <p:cNvPr id="11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13" name="Answer"/>
          <p:cNvSpPr txBox="1"/>
          <p:nvPr/>
        </p:nvSpPr>
        <p:spPr>
          <a:xfrm>
            <a:off x="1325880" y="1668845"/>
            <a:ext cx="10058400" cy="301621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네.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서로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10명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시연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2026.10.6 ·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정성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6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제품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사업성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입증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아님</a:t>
            </a:r>
            <a:r>
              <a:rPr sz="14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Q8-2. 피드백이 실제 코드 변경으로 이어졌나요?</a:t>
            </a:r>
          </a:p>
        </p:txBody>
      </p:sp>
      <p:sp>
        <p:nvSpPr>
          <p:cNvPr id="5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7" name="Answer"/>
          <p:cNvSpPr txBox="1"/>
          <p:nvPr/>
        </p:nvSpPr>
        <p:spPr>
          <a:xfrm>
            <a:off x="1325880" y="1536192"/>
            <a:ext cx="1005840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네. 사용자 의견 1건을 commit 4849ce3로 반영했습니다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1083564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4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사용자 의견  </a:t>
            </a:r>
            <a:r>
              <a:rPr sz="14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“좌표·기상값 소수점 표시가 너무 길어 읽기 어려움”</a:t>
            </a:r>
          </a:p>
        </p:txBody>
      </p:sp>
      <p:pic>
        <p:nvPicPr>
          <p:cNvPr id="9" name="BeforeAfter" descr="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8608"/>
            <a:ext cx="10835640" cy="1916239"/>
          </a:xfrm>
          <a:prstGeom prst="rect">
            <a:avLst/>
          </a:prstGeom>
        </p:spPr>
      </p:pic>
      <p:sp>
        <p:nvSpPr>
          <p:cNvPr id="10" name="Rule1"/>
          <p:cNvSpPr/>
          <p:nvPr/>
        </p:nvSpPr>
        <p:spPr>
          <a:xfrm>
            <a:off x="685800" y="46177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645152"/>
            <a:ext cx="324612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풍속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소수 15자리 → 1자리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324612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예: 4.401216061535382 / 5.7 m/s</a:t>
            </a:r>
          </a:p>
        </p:txBody>
      </p:sp>
      <p:sp>
        <p:nvSpPr>
          <p:cNvPr id="14" name="Rule2"/>
          <p:cNvSpPr/>
          <p:nvPr/>
        </p:nvSpPr>
        <p:spPr>
          <a:xfrm>
            <a:off x="4343400" y="46177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4645152"/>
            <a:ext cx="324612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위 · 경도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93776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8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소수 7자리 → 5자리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303520"/>
            <a:ext cx="324612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약 1 m 단위 · 38.06138</a:t>
            </a:r>
          </a:p>
        </p:txBody>
      </p:sp>
      <p:sp>
        <p:nvSpPr>
          <p:cNvPr id="18" name="Rule3"/>
          <p:cNvSpPr/>
          <p:nvPr/>
        </p:nvSpPr>
        <p:spPr>
          <a:xfrm>
            <a:off x="8001000" y="461772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4645152"/>
            <a:ext cx="324612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3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고도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93776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소수 1자리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303520"/>
            <a:ext cx="324612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199.2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1083564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※ 두 캡처는 서로 다른 실행 · 시각이라 풍속 값 자체는 다름 — 비교 대상은 표시 자릿수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685800" y="6309360"/>
            <a:ext cx="960120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근거: commit 4849ce3 · docs/common/ADAIR_사용자_피드백.md · 나머지 개선 요청은 계획 단계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Q9. 실제 현장에 바로 적용할 수 있나요?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관측 · 산불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열화상은 모의(SIMULATED) · 산불 CA는 진화 효과 · 국지풍 미반영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020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0204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UGV 주행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0204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 지형 2.4 km 중거리: 도착 0.17 m · 로그 정렬 실패로 전체 판정 FAIL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3440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34409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검증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34409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 지형 A↔B 장거리 · 60 km/h 원안 미완료 · 통합 운용은 지정 조건 1회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58614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458614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총괄 안정성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458614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통합 실행 6회 중 1회 35분간 PENDING · 미배정 (무효 회차 보존, 원인 추가 확인)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82819"/>
            <a:ext cx="10835640" cy="625449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82819"/>
            <a:ext cx="237744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6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발견 성능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182819"/>
            <a:ext cx="8138160" cy="625449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l"/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화재 테두리 · 발견률 3개 지표는 구현만 확인 — 장시간 반복 측정 전</a:t>
            </a:r>
          </a:p>
        </p:txBody>
      </p:sp>
      <p:sp>
        <p:nvSpPr>
          <p:cNvPr id="20" name="AnswerBand"/>
          <p:cNvSpPr/>
          <p:nvPr/>
        </p:nvSpPr>
        <p:spPr>
          <a:xfrm>
            <a:off x="685800" y="1536192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swerMark"/>
          <p:cNvSpPr txBox="1"/>
          <p:nvPr/>
        </p:nvSpPr>
        <p:spPr>
          <a:xfrm>
            <a:off x="822960" y="1536192"/>
            <a:ext cx="54864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22" name="Answer"/>
          <p:cNvSpPr txBox="1"/>
          <p:nvPr/>
        </p:nvSpPr>
        <p:spPr>
          <a:xfrm>
            <a:off x="1325880" y="1536192"/>
            <a:ext cx="1005840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6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아닙니다. 현재는 시뮬레이션 프로젝트이며, 확인된 한계는 다음과 같습니다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355080"/>
            <a:ext cx="731520" cy="32004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r"/>
            <a:r>
              <a:rPr sz="1200" b="0">
                <a:solidFill>
                  <a:srgbClr val="5E6E8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43000" cy="310896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5E6E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sz="1100" b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8229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2800" b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Q10. 어디까지 실제이고, 어디부터 시뮬레이션인가요?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3474720" cy="31089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3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0446" y="2651760"/>
            <a:ext cx="1645428" cy="3662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900" b="1" dirty="0" err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900" b="1" dirty="0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00" b="1" dirty="0" err="1">
                <a:solidFill>
                  <a:srgbClr val="3FB6A8"/>
                </a:solidFill>
                <a:latin typeface="맑은 고딕"/>
                <a:ea typeface="맑은 고딕"/>
                <a:cs typeface="맑은 고딕"/>
              </a:rPr>
              <a:t>데이터</a:t>
            </a:r>
            <a:endParaRPr sz="1900" b="1" dirty="0">
              <a:solidFill>
                <a:srgbClr val="3FB6A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3017520" cy="21945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인제 DEM 90 m · 임상도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도로망 · 수역 · 건물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2019.4.4 기상청 ASOS 211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위성 피해지 참조 (Sentinel-2 가공·보정 약 345 ha)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474720" cy="31089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F2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51120" y="2664735"/>
            <a:ext cx="2042160" cy="3662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900" b="1" dirty="0" err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물리</a:t>
            </a:r>
            <a:r>
              <a:rPr sz="1900" b="1" dirty="0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00" b="1" dirty="0" err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시뮬레이션</a:t>
            </a:r>
            <a:endParaRPr sz="1900" b="1" dirty="0">
              <a:solidFill>
                <a:srgbClr val="F2762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3291840"/>
            <a:ext cx="3017520" cy="21945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PX4 SITL + Gazebo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UAV x500 · UGV 차량 모델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실제 지형 타일 월드 (개인 저장소)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68880"/>
            <a:ext cx="3474720" cy="3108960"/>
          </a:xfrm>
          <a:prstGeom prst="roundRect">
            <a:avLst>
              <a:gd name="adj" fmla="val 12000"/>
            </a:avLst>
          </a:prstGeom>
          <a:solidFill>
            <a:srgbClr val="17253B"/>
          </a:solidFill>
          <a:ln w="15875">
            <a:solidFill>
              <a:srgbClr val="93A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064" y="2624968"/>
            <a:ext cx="1701472" cy="366254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/>
            <a:r>
              <a:rPr sz="1900" b="1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모의</a:t>
            </a:r>
            <a:r>
              <a:rPr sz="1900" b="1" dirty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900" b="1" dirty="0" err="1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단순화</a:t>
            </a:r>
            <a:endParaRPr sz="1900" b="1" dirty="0">
              <a:solidFill>
                <a:srgbClr val="93A1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017520" cy="219456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CA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(90 m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격자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1스텝 35분 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인제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사례로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보정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바람은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지도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균일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국지풍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미반영</a:t>
            </a:r>
            <a:endParaRPr sz="1500" b="0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000"/>
              </a:spcAft>
            </a:pP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진화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살수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효과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없음</a:t>
            </a:r>
            <a:endParaRPr sz="1500" b="0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Aft>
                <a:spcPts val="1000"/>
              </a:spcAft>
            </a:pP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열화상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관측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(SIMULATED)</a:t>
            </a:r>
          </a:p>
          <a:p>
            <a:pPr algn="l">
              <a:spcAft>
                <a:spcPts val="1000"/>
              </a:spcAft>
            </a:pP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· 팀 </a:t>
            </a:r>
            <a:r>
              <a:rPr sz="1500" b="0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시연</a:t>
            </a:r>
            <a:r>
              <a:rPr sz="1500" b="0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: UAV mock · UGV 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335" y="5852160"/>
            <a:ext cx="10835640" cy="457200"/>
          </a:xfrm>
          <a:prstGeom prst="rect">
            <a:avLst/>
          </a:prstGeom>
          <a:noFill/>
        </p:spPr>
        <p:txBody>
          <a:bodyPr wrap="square" lIns="109728" tIns="36576" rIns="109728" bIns="36576" anchor="t">
            <a:spAutoFit/>
          </a:bodyPr>
          <a:lstStyle/>
          <a:p>
            <a:pPr algn="ctr"/>
            <a:r>
              <a:rPr sz="1500" b="0">
                <a:solidFill>
                  <a:srgbClr val="93A1B5"/>
                </a:solidFill>
                <a:latin typeface="맑은 고딕"/>
                <a:ea typeface="맑은 고딕"/>
                <a:cs typeface="맑은 고딕"/>
              </a:rPr>
              <a:t>Python · FastAPI · SQLite · PX4 · Gazebo · OpenAI 호환 LLM(gpt-5.5) · GitHub Actions</a:t>
            </a:r>
          </a:p>
        </p:txBody>
      </p:sp>
      <p:sp>
        <p:nvSpPr>
          <p:cNvPr id="15" name="AnswerBand"/>
          <p:cNvSpPr/>
          <p:nvPr/>
        </p:nvSpPr>
        <p:spPr>
          <a:xfrm>
            <a:off x="685800" y="1536192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swerMark"/>
          <p:cNvSpPr txBox="1"/>
          <p:nvPr/>
        </p:nvSpPr>
        <p:spPr>
          <a:xfrm>
            <a:off x="822960" y="1536192"/>
            <a:ext cx="548640" cy="7772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000" b="1">
                <a:solidFill>
                  <a:srgbClr val="F2762E"/>
                </a:solidFill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17" name="Answer"/>
          <p:cNvSpPr txBox="1"/>
          <p:nvPr/>
        </p:nvSpPr>
        <p:spPr>
          <a:xfrm>
            <a:off x="1325880" y="1666279"/>
            <a:ext cx="10058400" cy="517065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데이터는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기체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차량은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물리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시뮬레이션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산불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확산은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데이터로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구동한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CA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, </a:t>
            </a:r>
            <a:endParaRPr lang="en-US" sz="15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  <a:p>
            <a:pPr algn="l"/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열화상은</a:t>
            </a:r>
            <a:r>
              <a:rPr sz="1500" b="1" dirty="0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2F4F7"/>
                </a:solidFill>
                <a:latin typeface="맑은 고딕"/>
                <a:ea typeface="맑은 고딕"/>
                <a:cs typeface="맑은 고딕"/>
              </a:rPr>
              <a:t>모의입니다</a:t>
            </a:r>
            <a:endParaRPr sz="1500" b="1" dirty="0">
              <a:solidFill>
                <a:srgbClr val="F2F4F7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4380</Words>
  <Application>Microsoft Office PowerPoint</Application>
  <PresentationFormat>와이드스크린</PresentationFormat>
  <Paragraphs>473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노랑털뭉치</dc:creator>
  <cp:keywords/>
  <dc:description>generated using python-pptx</dc:description>
  <cp:lastModifiedBy>노랑털뭉치</cp:lastModifiedBy>
  <cp:revision>4</cp:revision>
  <dcterms:created xsi:type="dcterms:W3CDTF">2013-01-27T09:14:16Z</dcterms:created>
  <dcterms:modified xsi:type="dcterms:W3CDTF">2026-10-15T09:51:47Z</dcterms:modified>
  <cp:category/>
</cp:coreProperties>
</file>